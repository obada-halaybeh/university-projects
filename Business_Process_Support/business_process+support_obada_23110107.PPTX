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531" autoAdjust="0"/>
  </p:normalViewPr>
  <p:slideViewPr>
    <p:cSldViewPr snapToGrid="0">
      <p:cViewPr varScale="1">
        <p:scale>
          <a:sx n="152" d="100"/>
          <a:sy n="152" d="100"/>
        </p:scale>
        <p:origin x="618"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147B95-982F-499F-971D-87C7CA569AAF}" type="datetimeFigureOut">
              <a:rPr lang="en-US" smtClean="0"/>
              <a:t>9/3/2025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A862BB-694F-47CF-BC93-3F963F72A41C}" type="slidenum">
              <a:rPr lang="en-US" smtClean="0"/>
              <a:t>‹#›</a:t>
            </a:fld>
            <a:endParaRPr lang="en-US"/>
          </a:p>
        </p:txBody>
      </p:sp>
    </p:spTree>
    <p:extLst>
      <p:ext uri="{BB962C8B-B14F-4D97-AF65-F5344CB8AC3E}">
        <p14:creationId xmlns:p14="http://schemas.microsoft.com/office/powerpoint/2010/main" val="76320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START</a:t>
            </a:r>
          </a:p>
          <a:p>
            <a:r>
              <a:rPr lang="en-US" dirty="0"/>
              <a:t>This project starts with a clear goal: turn raw sales data from Amazon into useful insights that can actually guide marketing and sales decisions. Instead of relying on guesses, we want to build a process that makes every step data-driven.</a:t>
            </a:r>
          </a:p>
          <a:p>
            <a:r>
              <a:rPr lang="en-US" b="1" dirty="0"/>
              <a:t>Collect Amazon Data using Helium 10</a:t>
            </a:r>
          </a:p>
          <a:p>
            <a:r>
              <a:rPr lang="en-US" dirty="0"/>
              <a:t>The first step is collecting the data. Using Helium 10, I pulled one year of sales information for the three Razer keyboards. The dataset included the time of each record, the sales rank, the list price, and the new price. This gives us a solid base of real market data to work with.</a:t>
            </a:r>
          </a:p>
          <a:p>
            <a:r>
              <a:rPr lang="en-US" b="1" dirty="0"/>
              <a:t>Save and Clean the Data in Excel</a:t>
            </a:r>
          </a:p>
          <a:p>
            <a:r>
              <a:rPr lang="en-US" dirty="0"/>
              <a:t>After downloading the CSVs, I moved everything into Excel. Here I organized the files, cleaned the data, and created new fields like discount amount and discount percentage. This step was about making sure the dataset was accurate, consistent, and ready for analysis.</a:t>
            </a:r>
          </a:p>
          <a:p>
            <a:r>
              <a:rPr lang="en-US" b="1" dirty="0"/>
              <a:t>Forecasting and Data Mining in Orange</a:t>
            </a:r>
          </a:p>
          <a:p>
            <a:r>
              <a:rPr lang="en-US" dirty="0"/>
              <a:t>To take things further, I used Orange for forecasting and data mining. By applying time-series models such as ARIMA, I was able to predict how sales rank and pricing might behave in the coming months. This step adds a forward-looking perspective to the analysis.</a:t>
            </a:r>
          </a:p>
          <a:p>
            <a:r>
              <a:rPr lang="en-US" b="1" dirty="0"/>
              <a:t>Import Data into Power BI</a:t>
            </a:r>
          </a:p>
          <a:p>
            <a:r>
              <a:rPr lang="en-US" dirty="0"/>
              <a:t>Once the data was prepared, I brought it into Power BI. With DAX functions, I calculated important business metrics like total revenue, average selling price, and monthly trends. Power BI also let me start building dashboards so the numbers could be seen in a clear, visual way.</a:t>
            </a:r>
          </a:p>
          <a:p>
            <a:r>
              <a:rPr lang="en-US" b="1" dirty="0"/>
              <a:t>Visualization in Power BI</a:t>
            </a:r>
          </a:p>
          <a:p>
            <a:r>
              <a:rPr lang="en-US" dirty="0"/>
              <a:t>I then combined the actual data with the forecasts back in Power BI. The dashboards show everything in one place—sales patterns, price changes, discounts, and future projections—making the insights easy to understand at a glance.</a:t>
            </a:r>
          </a:p>
          <a:p>
            <a:r>
              <a:rPr lang="en-US" b="1" dirty="0"/>
              <a:t>Analyze and Identify Best-Selling Products</a:t>
            </a:r>
          </a:p>
          <a:p>
            <a:r>
              <a:rPr lang="en-US" dirty="0"/>
              <a:t>With these dashboards, it became possible to directly compare the three products. I could see which keyboard sold better during discounts, which one stayed strong without heavy promotions, and which months were the best for marketing campaigns.</a:t>
            </a:r>
          </a:p>
          <a:p>
            <a:r>
              <a:rPr lang="en-US" b="1" dirty="0"/>
              <a:t>Generate Insights for Decision-Making</a:t>
            </a:r>
          </a:p>
          <a:p>
            <a:r>
              <a:rPr lang="en-US" dirty="0"/>
              <a:t>The final output of the pipeline is clear, actionable insights. Marketing teams can plan campaigns at the right time, sales managers can set realistic targets, and executives can decide where to invest more. Every group gets the information they need to act confidently.</a:t>
            </a:r>
          </a:p>
          <a:p>
            <a:r>
              <a:rPr lang="en-US" b="1" dirty="0"/>
              <a:t>END</a:t>
            </a:r>
          </a:p>
          <a:p>
            <a:r>
              <a:rPr lang="en-US" dirty="0"/>
              <a:t>In the end, what starts as raw Amazon sales data is transformed into a complete decision-support system. This pipeline doesn’t just explain what happened—it also shows what’s likely to happen next, helping the company build smarter, more data-driven marketing and sales strategies.</a:t>
            </a:r>
          </a:p>
          <a:p>
            <a:endParaRPr lang="en-US" dirty="0"/>
          </a:p>
          <a:p>
            <a:endParaRPr lang="en-US" b="0" dirty="0"/>
          </a:p>
          <a:p>
            <a:endParaRPr lang="en-US" b="0" dirty="0"/>
          </a:p>
          <a:p>
            <a:endParaRPr lang="en-US" dirty="0"/>
          </a:p>
        </p:txBody>
      </p:sp>
      <p:sp>
        <p:nvSpPr>
          <p:cNvPr id="4" name="Slide Number Placeholder 3"/>
          <p:cNvSpPr>
            <a:spLocks noGrp="1"/>
          </p:cNvSpPr>
          <p:nvPr>
            <p:ph type="sldNum" sz="quarter" idx="5"/>
          </p:nvPr>
        </p:nvSpPr>
        <p:spPr/>
        <p:txBody>
          <a:bodyPr/>
          <a:lstStyle/>
          <a:p>
            <a:fld id="{62A862BB-694F-47CF-BC93-3F963F72A41C}" type="slidenum">
              <a:rPr lang="en-US" smtClean="0"/>
              <a:t>21</a:t>
            </a:fld>
            <a:endParaRPr lang="en-US"/>
          </a:p>
        </p:txBody>
      </p:sp>
    </p:spTree>
    <p:extLst>
      <p:ext uri="{BB962C8B-B14F-4D97-AF65-F5344CB8AC3E}">
        <p14:creationId xmlns:p14="http://schemas.microsoft.com/office/powerpoint/2010/main" val="21469030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1273AF-BEE0-4A9C-B06B-BA8596DC630C}" type="datetimeFigureOut">
              <a:rPr lang="en-US" smtClean="0"/>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A6CD40-79EB-468F-8649-E5B372A749B5}" type="slidenum">
              <a:rPr lang="en-US" smtClean="0"/>
              <a:t>‹#›</a:t>
            </a:fld>
            <a:endParaRPr lang="en-US"/>
          </a:p>
        </p:txBody>
      </p:sp>
    </p:spTree>
    <p:extLst>
      <p:ext uri="{BB962C8B-B14F-4D97-AF65-F5344CB8AC3E}">
        <p14:creationId xmlns:p14="http://schemas.microsoft.com/office/powerpoint/2010/main" val="4058259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B1273AF-BEE0-4A9C-B06B-BA8596DC630C}" type="datetimeFigureOut">
              <a:rPr lang="en-US" smtClean="0"/>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A6CD40-79EB-468F-8649-E5B372A749B5}" type="slidenum">
              <a:rPr lang="en-US" smtClean="0"/>
              <a:t>‹#›</a:t>
            </a:fld>
            <a:endParaRPr lang="en-US"/>
          </a:p>
        </p:txBody>
      </p:sp>
    </p:spTree>
    <p:extLst>
      <p:ext uri="{BB962C8B-B14F-4D97-AF65-F5344CB8AC3E}">
        <p14:creationId xmlns:p14="http://schemas.microsoft.com/office/powerpoint/2010/main" val="2444522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1273AF-BEE0-4A9C-B06B-BA8596DC630C}" type="datetimeFigureOut">
              <a:rPr lang="en-US" smtClean="0"/>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A6CD40-79EB-468F-8649-E5B372A749B5}" type="slidenum">
              <a:rPr lang="en-US" smtClean="0"/>
              <a:t>‹#›</a:t>
            </a:fld>
            <a:endParaRPr lang="en-US"/>
          </a:p>
        </p:txBody>
      </p:sp>
    </p:spTree>
    <p:extLst>
      <p:ext uri="{BB962C8B-B14F-4D97-AF65-F5344CB8AC3E}">
        <p14:creationId xmlns:p14="http://schemas.microsoft.com/office/powerpoint/2010/main" val="1691744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B1273AF-BEE0-4A9C-B06B-BA8596DC630C}" type="datetimeFigureOut">
              <a:rPr lang="en-US" smtClean="0"/>
              <a:t>9/3/2025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A6CD40-79EB-468F-8649-E5B372A749B5}" type="slidenum">
              <a:rPr lang="en-US" smtClean="0"/>
              <a:t>‹#›</a:t>
            </a:fld>
            <a:endParaRPr lang="en-US"/>
          </a:p>
        </p:txBody>
      </p:sp>
    </p:spTree>
    <p:extLst>
      <p:ext uri="{BB962C8B-B14F-4D97-AF65-F5344CB8AC3E}">
        <p14:creationId xmlns:p14="http://schemas.microsoft.com/office/powerpoint/2010/main" val="2846850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B1273AF-BEE0-4A9C-B06B-BA8596DC630C}" type="datetimeFigureOut">
              <a:rPr lang="en-US" smtClean="0"/>
              <a:t>9/3/2025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A6CD40-79EB-468F-8649-E5B372A749B5}" type="slidenum">
              <a:rPr lang="en-US" smtClean="0"/>
              <a:t>‹#›</a:t>
            </a:fld>
            <a:endParaRPr lang="en-US"/>
          </a:p>
        </p:txBody>
      </p:sp>
    </p:spTree>
    <p:extLst>
      <p:ext uri="{BB962C8B-B14F-4D97-AF65-F5344CB8AC3E}">
        <p14:creationId xmlns:p14="http://schemas.microsoft.com/office/powerpoint/2010/main" val="668012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B1273AF-BEE0-4A9C-B06B-BA8596DC630C}" type="datetimeFigureOut">
              <a:rPr lang="en-US" smtClean="0"/>
              <a:t>9/3/2025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6DA6CD40-79EB-468F-8649-E5B372A749B5}" type="slidenum">
              <a:rPr lang="en-US" smtClean="0"/>
              <a:t>‹#›</a:t>
            </a:fld>
            <a:endParaRPr lang="en-US"/>
          </a:p>
        </p:txBody>
      </p:sp>
    </p:spTree>
    <p:extLst>
      <p:ext uri="{BB962C8B-B14F-4D97-AF65-F5344CB8AC3E}">
        <p14:creationId xmlns:p14="http://schemas.microsoft.com/office/powerpoint/2010/main" val="2628358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B1273AF-BEE0-4A9C-B06B-BA8596DC630C}" type="datetimeFigureOut">
              <a:rPr lang="en-US" smtClean="0"/>
              <a:t>9/3/2025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6DA6CD40-79EB-468F-8649-E5B372A749B5}" type="slidenum">
              <a:rPr lang="en-US" smtClean="0"/>
              <a:t>‹#›</a:t>
            </a:fld>
            <a:endParaRPr lang="en-US"/>
          </a:p>
        </p:txBody>
      </p:sp>
    </p:spTree>
    <p:extLst>
      <p:ext uri="{BB962C8B-B14F-4D97-AF65-F5344CB8AC3E}">
        <p14:creationId xmlns:p14="http://schemas.microsoft.com/office/powerpoint/2010/main" val="2534892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B1273AF-BEE0-4A9C-B06B-BA8596DC630C}" type="datetimeFigureOut">
              <a:rPr lang="en-US" smtClean="0"/>
              <a:t>9/3/2025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6DA6CD40-79EB-468F-8649-E5B372A749B5}" type="slidenum">
              <a:rPr lang="en-US" smtClean="0"/>
              <a:t>‹#›</a:t>
            </a:fld>
            <a:endParaRPr lang="en-US"/>
          </a:p>
        </p:txBody>
      </p:sp>
    </p:spTree>
    <p:extLst>
      <p:ext uri="{BB962C8B-B14F-4D97-AF65-F5344CB8AC3E}">
        <p14:creationId xmlns:p14="http://schemas.microsoft.com/office/powerpoint/2010/main" val="776142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B1273AF-BEE0-4A9C-B06B-BA8596DC630C}" type="datetimeFigureOut">
              <a:rPr lang="en-US" smtClean="0"/>
              <a:t>9/3/2025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A6CD40-79EB-468F-8649-E5B372A749B5}" type="slidenum">
              <a:rPr lang="en-US" smtClean="0"/>
              <a:t>‹#›</a:t>
            </a:fld>
            <a:endParaRPr lang="en-US"/>
          </a:p>
        </p:txBody>
      </p:sp>
    </p:spTree>
    <p:extLst>
      <p:ext uri="{BB962C8B-B14F-4D97-AF65-F5344CB8AC3E}">
        <p14:creationId xmlns:p14="http://schemas.microsoft.com/office/powerpoint/2010/main" val="3598284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B1273AF-BEE0-4A9C-B06B-BA8596DC630C}" type="datetimeFigureOut">
              <a:rPr lang="en-US" smtClean="0"/>
              <a:t>9/3/2025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A6CD40-79EB-468F-8649-E5B372A749B5}" type="slidenum">
              <a:rPr lang="en-US" smtClean="0"/>
              <a:t>‹#›</a:t>
            </a:fld>
            <a:endParaRPr lang="en-US"/>
          </a:p>
        </p:txBody>
      </p:sp>
    </p:spTree>
    <p:extLst>
      <p:ext uri="{BB962C8B-B14F-4D97-AF65-F5344CB8AC3E}">
        <p14:creationId xmlns:p14="http://schemas.microsoft.com/office/powerpoint/2010/main" val="18581147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B1273AF-BEE0-4A9C-B06B-BA8596DC630C}" type="datetimeFigureOut">
              <a:rPr lang="en-US" smtClean="0"/>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A6CD40-79EB-468F-8649-E5B372A749B5}" type="slidenum">
              <a:rPr lang="en-US" smtClean="0"/>
              <a:t>‹#›</a:t>
            </a:fld>
            <a:endParaRPr lang="en-US"/>
          </a:p>
        </p:txBody>
      </p:sp>
    </p:spTree>
    <p:extLst>
      <p:ext uri="{BB962C8B-B14F-4D97-AF65-F5344CB8AC3E}">
        <p14:creationId xmlns:p14="http://schemas.microsoft.com/office/powerpoint/2010/main" val="13711934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B1273AF-BEE0-4A9C-B06B-BA8596DC630C}" type="datetimeFigureOut">
              <a:rPr lang="en-US" smtClean="0"/>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A6CD40-79EB-468F-8649-E5B372A749B5}"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3444961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1273AF-BEE0-4A9C-B06B-BA8596DC630C}" type="datetimeFigureOut">
              <a:rPr lang="en-US" smtClean="0"/>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A6CD40-79EB-468F-8649-E5B372A749B5}" type="slidenum">
              <a:rPr lang="en-US" smtClean="0"/>
              <a:t>‹#›</a:t>
            </a:fld>
            <a:endParaRPr lang="en-US"/>
          </a:p>
        </p:txBody>
      </p:sp>
    </p:spTree>
    <p:extLst>
      <p:ext uri="{BB962C8B-B14F-4D97-AF65-F5344CB8AC3E}">
        <p14:creationId xmlns:p14="http://schemas.microsoft.com/office/powerpoint/2010/main" val="19056846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B1273AF-BEE0-4A9C-B06B-BA8596DC630C}" type="datetimeFigureOut">
              <a:rPr lang="en-US" smtClean="0"/>
              <a:t>9/3/2025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A6CD40-79EB-468F-8649-E5B372A749B5}" type="slidenum">
              <a:rPr lang="en-US" smtClean="0"/>
              <a:t>‹#›</a:t>
            </a:fld>
            <a:endParaRPr lang="en-US"/>
          </a:p>
        </p:txBody>
      </p:sp>
    </p:spTree>
    <p:extLst>
      <p:ext uri="{BB962C8B-B14F-4D97-AF65-F5344CB8AC3E}">
        <p14:creationId xmlns:p14="http://schemas.microsoft.com/office/powerpoint/2010/main" val="16398735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B1273AF-BEE0-4A9C-B06B-BA8596DC630C}" type="datetimeFigureOut">
              <a:rPr lang="en-US" smtClean="0"/>
              <a:t>9/3/2025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A6CD40-79EB-468F-8649-E5B372A749B5}" type="slidenum">
              <a:rPr lang="en-US" smtClean="0"/>
              <a:t>‹#›</a:t>
            </a:fld>
            <a:endParaRPr lang="en-US"/>
          </a:p>
        </p:txBody>
      </p:sp>
    </p:spTree>
    <p:extLst>
      <p:ext uri="{BB962C8B-B14F-4D97-AF65-F5344CB8AC3E}">
        <p14:creationId xmlns:p14="http://schemas.microsoft.com/office/powerpoint/2010/main" val="15540870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1273AF-BEE0-4A9C-B06B-BA8596DC630C}" type="datetimeFigureOut">
              <a:rPr lang="en-US" smtClean="0"/>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A6CD40-79EB-468F-8649-E5B372A749B5}" type="slidenum">
              <a:rPr lang="en-US" smtClean="0"/>
              <a:t>‹#›</a:t>
            </a:fld>
            <a:endParaRPr lang="en-US"/>
          </a:p>
        </p:txBody>
      </p:sp>
    </p:spTree>
    <p:extLst>
      <p:ext uri="{BB962C8B-B14F-4D97-AF65-F5344CB8AC3E}">
        <p14:creationId xmlns:p14="http://schemas.microsoft.com/office/powerpoint/2010/main" val="33616778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1273AF-BEE0-4A9C-B06B-BA8596DC630C}" type="datetimeFigureOut">
              <a:rPr lang="en-US" smtClean="0"/>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A6CD40-79EB-468F-8649-E5B372A749B5}" type="slidenum">
              <a:rPr lang="en-US" smtClean="0"/>
              <a:t>‹#›</a:t>
            </a:fld>
            <a:endParaRPr lang="en-US"/>
          </a:p>
        </p:txBody>
      </p:sp>
    </p:spTree>
    <p:extLst>
      <p:ext uri="{BB962C8B-B14F-4D97-AF65-F5344CB8AC3E}">
        <p14:creationId xmlns:p14="http://schemas.microsoft.com/office/powerpoint/2010/main" val="1408841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B1273AF-BEE0-4A9C-B06B-BA8596DC630C}" type="datetimeFigureOut">
              <a:rPr lang="en-US" smtClean="0"/>
              <a:t>9/3/2025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6DA6CD40-79EB-468F-8649-E5B372A749B5}" type="slidenum">
              <a:rPr lang="en-US" smtClean="0"/>
              <a:t>‹#›</a:t>
            </a:fld>
            <a:endParaRPr lang="en-US"/>
          </a:p>
        </p:txBody>
      </p:sp>
    </p:spTree>
    <p:extLst>
      <p:ext uri="{BB962C8B-B14F-4D97-AF65-F5344CB8AC3E}">
        <p14:creationId xmlns:p14="http://schemas.microsoft.com/office/powerpoint/2010/main" val="273428914"/>
      </p:ext>
    </p:extLst>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78258-E5C8-45A9-A4D6-877DB43CBC6C}"/>
              </a:ext>
            </a:extLst>
          </p:cNvPr>
          <p:cNvSpPr>
            <a:spLocks noGrp="1"/>
          </p:cNvSpPr>
          <p:nvPr>
            <p:ph type="ctrTitle"/>
          </p:nvPr>
        </p:nvSpPr>
        <p:spPr/>
        <p:txBody>
          <a:bodyPr/>
          <a:lstStyle/>
          <a:p>
            <a:r>
              <a:rPr lang="en-US" sz="5400" dirty="0"/>
              <a:t>Business process support</a:t>
            </a:r>
          </a:p>
        </p:txBody>
      </p:sp>
      <p:sp>
        <p:nvSpPr>
          <p:cNvPr id="3" name="Subtitle 2">
            <a:extLst>
              <a:ext uri="{FF2B5EF4-FFF2-40B4-BE49-F238E27FC236}">
                <a16:creationId xmlns:a16="http://schemas.microsoft.com/office/drawing/2014/main" id="{56192FFC-D33E-D6A2-79DB-E565AAFF3360}"/>
              </a:ext>
            </a:extLst>
          </p:cNvPr>
          <p:cNvSpPr>
            <a:spLocks noGrp="1"/>
          </p:cNvSpPr>
          <p:nvPr>
            <p:ph type="subTitle" idx="1"/>
          </p:nvPr>
        </p:nvSpPr>
        <p:spPr/>
        <p:txBody>
          <a:bodyPr/>
          <a:lstStyle/>
          <a:p>
            <a:r>
              <a:rPr lang="en-US" dirty="0"/>
              <a:t>Obada al-halaybeh_23110107</a:t>
            </a:r>
          </a:p>
        </p:txBody>
      </p:sp>
      <p:pic>
        <p:nvPicPr>
          <p:cNvPr id="4" name="Picture 3" descr="/Users/apple/Library/Containers/com.microsoft.Outlook/Data/Library/Caches/Signatures/signature_2105988401">
            <a:extLst>
              <a:ext uri="{FF2B5EF4-FFF2-40B4-BE49-F238E27FC236}">
                <a16:creationId xmlns:a16="http://schemas.microsoft.com/office/drawing/2014/main" id="{5365C397-8E9E-3AFB-41F0-7BDFDC33D2E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187190" y="1447799"/>
            <a:ext cx="2628900" cy="571500"/>
          </a:xfrm>
          <a:prstGeom prst="rect">
            <a:avLst/>
          </a:prstGeom>
          <a:noFill/>
          <a:ln>
            <a:noFill/>
          </a:ln>
        </p:spPr>
      </p:pic>
    </p:spTree>
    <p:extLst>
      <p:ext uri="{BB962C8B-B14F-4D97-AF65-F5344CB8AC3E}">
        <p14:creationId xmlns:p14="http://schemas.microsoft.com/office/powerpoint/2010/main" val="584610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6FC95-B450-871E-2703-C0627826965E}"/>
              </a:ext>
            </a:extLst>
          </p:cNvPr>
          <p:cNvSpPr>
            <a:spLocks noGrp="1"/>
          </p:cNvSpPr>
          <p:nvPr>
            <p:ph type="title"/>
          </p:nvPr>
        </p:nvSpPr>
        <p:spPr/>
        <p:txBody>
          <a:bodyPr/>
          <a:lstStyle/>
          <a:p>
            <a:r>
              <a:rPr lang="en-US" dirty="0"/>
              <a:t>Products </a:t>
            </a:r>
          </a:p>
        </p:txBody>
      </p:sp>
      <p:sp>
        <p:nvSpPr>
          <p:cNvPr id="3" name="Content Placeholder 2">
            <a:extLst>
              <a:ext uri="{FF2B5EF4-FFF2-40B4-BE49-F238E27FC236}">
                <a16:creationId xmlns:a16="http://schemas.microsoft.com/office/drawing/2014/main" id="{258104DA-E889-A170-5216-4AE237C9CA79}"/>
              </a:ext>
            </a:extLst>
          </p:cNvPr>
          <p:cNvSpPr>
            <a:spLocks noGrp="1"/>
          </p:cNvSpPr>
          <p:nvPr>
            <p:ph idx="1"/>
          </p:nvPr>
        </p:nvSpPr>
        <p:spPr/>
        <p:txBody>
          <a:bodyPr>
            <a:normAutofit lnSpcReduction="10000"/>
          </a:bodyPr>
          <a:lstStyle/>
          <a:p>
            <a:r>
              <a:rPr lang="en-US" dirty="0"/>
              <a:t>In this project I selected three products from company called razer to be more specific the products were from their keyboard collection.</a:t>
            </a:r>
            <a:br>
              <a:rPr lang="en-US" dirty="0"/>
            </a:br>
            <a:endParaRPr lang="en-US" dirty="0"/>
          </a:p>
          <a:p>
            <a:r>
              <a:rPr lang="en-US" dirty="0"/>
              <a:t>Razer Ornata V3 Gaming Keyboard</a:t>
            </a:r>
          </a:p>
          <a:p>
            <a:r>
              <a:rPr lang="en-US" dirty="0"/>
              <a:t>Razer </a:t>
            </a:r>
            <a:r>
              <a:rPr lang="en-US" dirty="0" err="1"/>
              <a:t>BlackWidow</a:t>
            </a:r>
            <a:r>
              <a:rPr lang="en-US" dirty="0"/>
              <a:t> V4 X Mechanical Gaming Keyboard</a:t>
            </a:r>
          </a:p>
          <a:p>
            <a:r>
              <a:rPr lang="en-US" dirty="0"/>
              <a:t>Razer Huntsman Mini 60% Gaming Keyboard-white</a:t>
            </a:r>
          </a:p>
          <a:p>
            <a:endParaRPr lang="en-US" dirty="0"/>
          </a:p>
          <a:p>
            <a:r>
              <a:rPr lang="en-US" dirty="0"/>
              <a:t>These products were chosen as they represents the same category (keyboards) from the same company razer, each keyboard has its own unique feature, making them a good products to do a comparative analysis on.</a:t>
            </a:r>
          </a:p>
        </p:txBody>
      </p:sp>
      <p:pic>
        <p:nvPicPr>
          <p:cNvPr id="7" name="Picture 6" descr="A green snake on a black background&#10;&#10;AI-generated content may be incorrect.">
            <a:extLst>
              <a:ext uri="{FF2B5EF4-FFF2-40B4-BE49-F238E27FC236}">
                <a16:creationId xmlns:a16="http://schemas.microsoft.com/office/drawing/2014/main" id="{DDF5E294-05D6-1279-6193-575B37A336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58489" y="2914390"/>
            <a:ext cx="2023911" cy="1477455"/>
          </a:xfrm>
          <a:prstGeom prst="rect">
            <a:avLst/>
          </a:prstGeom>
        </p:spPr>
      </p:pic>
    </p:spTree>
    <p:extLst>
      <p:ext uri="{BB962C8B-B14F-4D97-AF65-F5344CB8AC3E}">
        <p14:creationId xmlns:p14="http://schemas.microsoft.com/office/powerpoint/2010/main" val="2634032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0C7E9-517B-5617-E350-E824F2917A12}"/>
              </a:ext>
            </a:extLst>
          </p:cNvPr>
          <p:cNvSpPr>
            <a:spLocks noGrp="1"/>
          </p:cNvSpPr>
          <p:nvPr>
            <p:ph type="title"/>
          </p:nvPr>
        </p:nvSpPr>
        <p:spPr/>
        <p:txBody>
          <a:bodyPr/>
          <a:lstStyle/>
          <a:p>
            <a:r>
              <a:rPr lang="en-US" dirty="0"/>
              <a:t>Data generation</a:t>
            </a:r>
          </a:p>
        </p:txBody>
      </p:sp>
      <p:sp>
        <p:nvSpPr>
          <p:cNvPr id="3" name="Content Placeholder 2">
            <a:extLst>
              <a:ext uri="{FF2B5EF4-FFF2-40B4-BE49-F238E27FC236}">
                <a16:creationId xmlns:a16="http://schemas.microsoft.com/office/drawing/2014/main" id="{DA621669-1BF9-24D0-F46E-32A6A3DA329C}"/>
              </a:ext>
            </a:extLst>
          </p:cNvPr>
          <p:cNvSpPr>
            <a:spLocks noGrp="1"/>
          </p:cNvSpPr>
          <p:nvPr>
            <p:ph idx="1"/>
          </p:nvPr>
        </p:nvSpPr>
        <p:spPr/>
        <p:txBody>
          <a:bodyPr>
            <a:normAutofit fontScale="92500" lnSpcReduction="10000"/>
          </a:bodyPr>
          <a:lstStyle/>
          <a:p>
            <a:r>
              <a:rPr lang="en-US" dirty="0"/>
              <a:t>The data collection was done using helium 10, helium 10 is a chrome browser extension that provides a real time analyses on products listed on amazon.</a:t>
            </a:r>
          </a:p>
          <a:p>
            <a:r>
              <a:rPr lang="en-US" dirty="0"/>
              <a:t>Helium 10 is  mostly used in e-commerce analytics as it allow product tracking and pricing trends.</a:t>
            </a:r>
          </a:p>
          <a:p>
            <a:r>
              <a:rPr lang="en-US" dirty="0"/>
              <a:t>the data you get from that  will be listed as: time, sales rank, list price and new price.</a:t>
            </a:r>
          </a:p>
          <a:p>
            <a:r>
              <a:rPr lang="en-US" dirty="0"/>
              <a:t>Time: the time when the product was ordered ,year/month/day/hour( for the products in the project I took a 1year span)</a:t>
            </a:r>
          </a:p>
          <a:p>
            <a:r>
              <a:rPr lang="en-US" dirty="0"/>
              <a:t>Sales rank: the position it has in its category(indicates popularity).</a:t>
            </a:r>
          </a:p>
          <a:p>
            <a:r>
              <a:rPr lang="en-US" dirty="0"/>
              <a:t>List price: manufacturer suggested price.</a:t>
            </a:r>
          </a:p>
          <a:p>
            <a:r>
              <a:rPr lang="en-US" dirty="0"/>
              <a:t>New price: the vendor offered price.</a:t>
            </a:r>
          </a:p>
        </p:txBody>
      </p:sp>
    </p:spTree>
    <p:extLst>
      <p:ext uri="{BB962C8B-B14F-4D97-AF65-F5344CB8AC3E}">
        <p14:creationId xmlns:p14="http://schemas.microsoft.com/office/powerpoint/2010/main" val="4091091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B7D89-EB8F-0198-EEB4-EC66543980F1}"/>
              </a:ext>
            </a:extLst>
          </p:cNvPr>
          <p:cNvSpPr>
            <a:spLocks noGrp="1"/>
          </p:cNvSpPr>
          <p:nvPr>
            <p:ph type="title"/>
          </p:nvPr>
        </p:nvSpPr>
        <p:spPr/>
        <p:txBody>
          <a:bodyPr/>
          <a:lstStyle/>
          <a:p>
            <a:r>
              <a:rPr lang="en-US" dirty="0"/>
              <a:t>Why This Data is Relevant</a:t>
            </a:r>
          </a:p>
        </p:txBody>
      </p:sp>
      <p:sp>
        <p:nvSpPr>
          <p:cNvPr id="3" name="Content Placeholder 2">
            <a:extLst>
              <a:ext uri="{FF2B5EF4-FFF2-40B4-BE49-F238E27FC236}">
                <a16:creationId xmlns:a16="http://schemas.microsoft.com/office/drawing/2014/main" id="{A32298A7-8223-2AD6-40DD-2B66E622B0B7}"/>
              </a:ext>
            </a:extLst>
          </p:cNvPr>
          <p:cNvSpPr>
            <a:spLocks noGrp="1"/>
          </p:cNvSpPr>
          <p:nvPr>
            <p:ph idx="1"/>
          </p:nvPr>
        </p:nvSpPr>
        <p:spPr/>
        <p:txBody>
          <a:bodyPr>
            <a:normAutofit fontScale="85000" lnSpcReduction="20000"/>
          </a:bodyPr>
          <a:lstStyle/>
          <a:p>
            <a:r>
              <a:rPr lang="en-US" dirty="0"/>
              <a:t>Time data: help us find and analyze the spike of sales for a product.</a:t>
            </a:r>
          </a:p>
          <a:p>
            <a:r>
              <a:rPr lang="en-US" dirty="0"/>
              <a:t>Seals rank: help us find how popular this product to the others(from the same category as keyboards).</a:t>
            </a:r>
          </a:p>
          <a:p>
            <a:r>
              <a:rPr lang="en-US" dirty="0"/>
              <a:t>List price: give us the intended pricing strategy from the company also can be analyzed to see how consistent is the price a long the time line.</a:t>
            </a:r>
          </a:p>
          <a:p>
            <a:r>
              <a:rPr lang="en-US" dirty="0"/>
              <a:t>New price: show us the real price the customer paid for the product, we can study customer behavior from it as if there is a discount or an offer for the product.</a:t>
            </a:r>
          </a:p>
          <a:p>
            <a:r>
              <a:rPr lang="en-US" dirty="0"/>
              <a:t>All of these data are important to help stakeholders in marketing and pricing decisions, as finding the best period for discounts and tracking the product </a:t>
            </a:r>
            <a:r>
              <a:rPr lang="en-US" dirty="0" err="1"/>
              <a:t>comptitvnest</a:t>
            </a:r>
            <a:r>
              <a:rPr lang="en-US" dirty="0"/>
              <a:t> in the market.</a:t>
            </a:r>
          </a:p>
          <a:p>
            <a:r>
              <a:rPr lang="en-US" dirty="0"/>
              <a:t>Since I am gathering information about the same type of product from the same company but on a different levels(features), this data will be meaningful, and will give insight about customer </a:t>
            </a:r>
            <a:r>
              <a:rPr lang="en-US" dirty="0" err="1"/>
              <a:t>beahvior</a:t>
            </a:r>
            <a:r>
              <a:rPr lang="en-US" dirty="0"/>
              <a:t>, price sensitivity, and seasonal trends. all of that is important in decision making in the e-commerce world.</a:t>
            </a:r>
          </a:p>
          <a:p>
            <a:endParaRPr lang="en-US" dirty="0"/>
          </a:p>
        </p:txBody>
      </p:sp>
    </p:spTree>
    <p:extLst>
      <p:ext uri="{BB962C8B-B14F-4D97-AF65-F5344CB8AC3E}">
        <p14:creationId xmlns:p14="http://schemas.microsoft.com/office/powerpoint/2010/main" val="723176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179C5-3392-F3B7-A29E-020B6AF40C89}"/>
              </a:ext>
            </a:extLst>
          </p:cNvPr>
          <p:cNvSpPr>
            <a:spLocks noGrp="1"/>
          </p:cNvSpPr>
          <p:nvPr>
            <p:ph type="title"/>
          </p:nvPr>
        </p:nvSpPr>
        <p:spPr/>
        <p:txBody>
          <a:bodyPr/>
          <a:lstStyle/>
          <a:p>
            <a:r>
              <a:rPr lang="en-US" dirty="0"/>
              <a:t>data science tools and technologies used in the project</a:t>
            </a:r>
          </a:p>
        </p:txBody>
      </p:sp>
      <p:sp>
        <p:nvSpPr>
          <p:cNvPr id="5" name="Rectangle: Rounded Corners 4">
            <a:extLst>
              <a:ext uri="{FF2B5EF4-FFF2-40B4-BE49-F238E27FC236}">
                <a16:creationId xmlns:a16="http://schemas.microsoft.com/office/drawing/2014/main" id="{8392B7CB-464C-A9A3-78E2-E77F84AE6AA3}"/>
              </a:ext>
            </a:extLst>
          </p:cNvPr>
          <p:cNvSpPr/>
          <p:nvPr/>
        </p:nvSpPr>
        <p:spPr>
          <a:xfrm>
            <a:off x="4514850" y="2101850"/>
            <a:ext cx="2082800" cy="850900"/>
          </a:xfrm>
          <a:prstGeom prst="roundRect">
            <a:avLst/>
          </a:prstGeom>
          <a:no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0" name="Rectangle: Rounded Corners 9">
            <a:extLst>
              <a:ext uri="{FF2B5EF4-FFF2-40B4-BE49-F238E27FC236}">
                <a16:creationId xmlns:a16="http://schemas.microsoft.com/office/drawing/2014/main" id="{9548DE35-6D3D-9803-39EF-C82A28D750B4}"/>
              </a:ext>
            </a:extLst>
          </p:cNvPr>
          <p:cNvSpPr/>
          <p:nvPr/>
        </p:nvSpPr>
        <p:spPr>
          <a:xfrm>
            <a:off x="4514850" y="3152420"/>
            <a:ext cx="2082800" cy="850900"/>
          </a:xfrm>
          <a:prstGeom prst="roundRect">
            <a:avLst/>
          </a:prstGeom>
          <a:no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2" name="Rectangle: Rounded Corners 11">
            <a:extLst>
              <a:ext uri="{FF2B5EF4-FFF2-40B4-BE49-F238E27FC236}">
                <a16:creationId xmlns:a16="http://schemas.microsoft.com/office/drawing/2014/main" id="{B2198D80-DE82-2A0C-9528-FADBED0927BD}"/>
              </a:ext>
            </a:extLst>
          </p:cNvPr>
          <p:cNvSpPr/>
          <p:nvPr/>
        </p:nvSpPr>
        <p:spPr>
          <a:xfrm>
            <a:off x="4514850" y="4202990"/>
            <a:ext cx="2082800" cy="850900"/>
          </a:xfrm>
          <a:prstGeom prst="roundRect">
            <a:avLst/>
          </a:prstGeom>
          <a:no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3" name="Rectangle: Rounded Corners 12">
            <a:extLst>
              <a:ext uri="{FF2B5EF4-FFF2-40B4-BE49-F238E27FC236}">
                <a16:creationId xmlns:a16="http://schemas.microsoft.com/office/drawing/2014/main" id="{835797F5-2E01-4065-DD02-86B4FD6F4D98}"/>
              </a:ext>
            </a:extLst>
          </p:cNvPr>
          <p:cNvSpPr/>
          <p:nvPr/>
        </p:nvSpPr>
        <p:spPr>
          <a:xfrm>
            <a:off x="4514850" y="5206290"/>
            <a:ext cx="2082800" cy="850900"/>
          </a:xfrm>
          <a:prstGeom prst="roundRect">
            <a:avLst/>
          </a:prstGeom>
          <a:no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4" name="TextBox 13">
            <a:extLst>
              <a:ext uri="{FF2B5EF4-FFF2-40B4-BE49-F238E27FC236}">
                <a16:creationId xmlns:a16="http://schemas.microsoft.com/office/drawing/2014/main" id="{8B0B1592-B2A5-AA35-61A1-E36D39B8671F}"/>
              </a:ext>
            </a:extLst>
          </p:cNvPr>
          <p:cNvSpPr txBox="1"/>
          <p:nvPr/>
        </p:nvSpPr>
        <p:spPr>
          <a:xfrm>
            <a:off x="4924506" y="2342634"/>
            <a:ext cx="1263487" cy="369332"/>
          </a:xfrm>
          <a:prstGeom prst="rect">
            <a:avLst/>
          </a:prstGeom>
          <a:noFill/>
        </p:spPr>
        <p:txBody>
          <a:bodyPr wrap="none" rtlCol="0">
            <a:spAutoFit/>
          </a:bodyPr>
          <a:lstStyle/>
          <a:p>
            <a:r>
              <a:rPr lang="en-US" dirty="0"/>
              <a:t>Helium 10</a:t>
            </a:r>
          </a:p>
        </p:txBody>
      </p:sp>
      <p:sp>
        <p:nvSpPr>
          <p:cNvPr id="15" name="TextBox 14">
            <a:extLst>
              <a:ext uri="{FF2B5EF4-FFF2-40B4-BE49-F238E27FC236}">
                <a16:creationId xmlns:a16="http://schemas.microsoft.com/office/drawing/2014/main" id="{83FD3AE5-25F8-00CA-D447-22A8D76E2A4B}"/>
              </a:ext>
            </a:extLst>
          </p:cNvPr>
          <p:cNvSpPr txBox="1"/>
          <p:nvPr/>
        </p:nvSpPr>
        <p:spPr>
          <a:xfrm>
            <a:off x="5173772" y="3393204"/>
            <a:ext cx="764953" cy="369332"/>
          </a:xfrm>
          <a:prstGeom prst="rect">
            <a:avLst/>
          </a:prstGeom>
          <a:noFill/>
        </p:spPr>
        <p:txBody>
          <a:bodyPr wrap="none" rtlCol="0">
            <a:spAutoFit/>
          </a:bodyPr>
          <a:lstStyle/>
          <a:p>
            <a:r>
              <a:rPr lang="en-US" dirty="0"/>
              <a:t>Excel</a:t>
            </a:r>
          </a:p>
        </p:txBody>
      </p:sp>
      <p:sp>
        <p:nvSpPr>
          <p:cNvPr id="16" name="TextBox 15">
            <a:extLst>
              <a:ext uri="{FF2B5EF4-FFF2-40B4-BE49-F238E27FC236}">
                <a16:creationId xmlns:a16="http://schemas.microsoft.com/office/drawing/2014/main" id="{7C6ED591-D13A-287B-381C-85B13C02AF3F}"/>
              </a:ext>
            </a:extLst>
          </p:cNvPr>
          <p:cNvSpPr txBox="1"/>
          <p:nvPr/>
        </p:nvSpPr>
        <p:spPr>
          <a:xfrm>
            <a:off x="4989426" y="4443774"/>
            <a:ext cx="1133644" cy="369332"/>
          </a:xfrm>
          <a:prstGeom prst="rect">
            <a:avLst/>
          </a:prstGeom>
          <a:noFill/>
        </p:spPr>
        <p:txBody>
          <a:bodyPr wrap="none" rtlCol="0">
            <a:spAutoFit/>
          </a:bodyPr>
          <a:lstStyle/>
          <a:p>
            <a:r>
              <a:rPr lang="en-US" dirty="0"/>
              <a:t>Power BI</a:t>
            </a:r>
          </a:p>
        </p:txBody>
      </p:sp>
      <p:sp>
        <p:nvSpPr>
          <p:cNvPr id="17" name="TextBox 16">
            <a:extLst>
              <a:ext uri="{FF2B5EF4-FFF2-40B4-BE49-F238E27FC236}">
                <a16:creationId xmlns:a16="http://schemas.microsoft.com/office/drawing/2014/main" id="{90FE99E4-1120-C425-7CBF-1CE91E95D9A5}"/>
              </a:ext>
            </a:extLst>
          </p:cNvPr>
          <p:cNvSpPr txBox="1"/>
          <p:nvPr/>
        </p:nvSpPr>
        <p:spPr>
          <a:xfrm>
            <a:off x="5027096" y="5447074"/>
            <a:ext cx="1058303" cy="369332"/>
          </a:xfrm>
          <a:prstGeom prst="rect">
            <a:avLst/>
          </a:prstGeom>
          <a:noFill/>
        </p:spPr>
        <p:txBody>
          <a:bodyPr wrap="none" rtlCol="0">
            <a:spAutoFit/>
          </a:bodyPr>
          <a:lstStyle/>
          <a:p>
            <a:r>
              <a:rPr lang="en-US" dirty="0"/>
              <a:t>Orange</a:t>
            </a:r>
          </a:p>
        </p:txBody>
      </p:sp>
    </p:spTree>
    <p:extLst>
      <p:ext uri="{BB962C8B-B14F-4D97-AF65-F5344CB8AC3E}">
        <p14:creationId xmlns:p14="http://schemas.microsoft.com/office/powerpoint/2010/main" val="1750809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69F1E-4AB1-064E-4829-CF966493A049}"/>
              </a:ext>
            </a:extLst>
          </p:cNvPr>
          <p:cNvSpPr>
            <a:spLocks noGrp="1"/>
          </p:cNvSpPr>
          <p:nvPr>
            <p:ph type="title"/>
          </p:nvPr>
        </p:nvSpPr>
        <p:spPr/>
        <p:txBody>
          <a:bodyPr/>
          <a:lstStyle/>
          <a:p>
            <a:r>
              <a:rPr lang="en-US" dirty="0"/>
              <a:t>Helium 10 – data collection</a:t>
            </a:r>
          </a:p>
        </p:txBody>
      </p:sp>
      <p:sp>
        <p:nvSpPr>
          <p:cNvPr id="3" name="Content Placeholder 2">
            <a:extLst>
              <a:ext uri="{FF2B5EF4-FFF2-40B4-BE49-F238E27FC236}">
                <a16:creationId xmlns:a16="http://schemas.microsoft.com/office/drawing/2014/main" id="{4547C230-D845-4080-F6CE-266D2821963D}"/>
              </a:ext>
            </a:extLst>
          </p:cNvPr>
          <p:cNvSpPr>
            <a:spLocks noGrp="1"/>
          </p:cNvSpPr>
          <p:nvPr>
            <p:ph idx="1"/>
          </p:nvPr>
        </p:nvSpPr>
        <p:spPr/>
        <p:txBody>
          <a:bodyPr/>
          <a:lstStyle/>
          <a:p>
            <a:r>
              <a:rPr lang="en-US" dirty="0"/>
              <a:t>It is a specialized Amazon analytics tool.</a:t>
            </a:r>
            <a:br>
              <a:rPr lang="en-US" dirty="0"/>
            </a:br>
            <a:endParaRPr lang="en-US" dirty="0"/>
          </a:p>
          <a:p>
            <a:r>
              <a:rPr lang="en-US" dirty="0"/>
              <a:t>It extract real world data such as time of the purchase, sales rank, list price and new price. </a:t>
            </a:r>
            <a:br>
              <a:rPr lang="en-US" dirty="0"/>
            </a:br>
            <a:endParaRPr lang="en-US" dirty="0"/>
          </a:p>
          <a:p>
            <a:r>
              <a:rPr lang="en-US" dirty="0"/>
              <a:t>it also provide up to date and reliable sales information gathered directly from the Amazon marketplace.</a:t>
            </a:r>
          </a:p>
        </p:txBody>
      </p:sp>
    </p:spTree>
    <p:extLst>
      <p:ext uri="{BB962C8B-B14F-4D97-AF65-F5344CB8AC3E}">
        <p14:creationId xmlns:p14="http://schemas.microsoft.com/office/powerpoint/2010/main" val="4021047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6D7C2-4147-94F9-9B2E-604ED52F7800}"/>
              </a:ext>
            </a:extLst>
          </p:cNvPr>
          <p:cNvSpPr>
            <a:spLocks noGrp="1"/>
          </p:cNvSpPr>
          <p:nvPr>
            <p:ph type="title"/>
          </p:nvPr>
        </p:nvSpPr>
        <p:spPr/>
        <p:txBody>
          <a:bodyPr/>
          <a:lstStyle/>
          <a:p>
            <a:r>
              <a:rPr lang="en-US" dirty="0"/>
              <a:t>Microsoft Excel – data preparation and enhancement</a:t>
            </a:r>
          </a:p>
        </p:txBody>
      </p:sp>
      <p:sp>
        <p:nvSpPr>
          <p:cNvPr id="3" name="Content Placeholder 2">
            <a:extLst>
              <a:ext uri="{FF2B5EF4-FFF2-40B4-BE49-F238E27FC236}">
                <a16:creationId xmlns:a16="http://schemas.microsoft.com/office/drawing/2014/main" id="{8F1C562F-6D0D-F325-A9FB-093822E6B75F}"/>
              </a:ext>
            </a:extLst>
          </p:cNvPr>
          <p:cNvSpPr>
            <a:spLocks noGrp="1"/>
          </p:cNvSpPr>
          <p:nvPr>
            <p:ph idx="1"/>
          </p:nvPr>
        </p:nvSpPr>
        <p:spPr/>
        <p:txBody>
          <a:bodyPr/>
          <a:lstStyle/>
          <a:p>
            <a:r>
              <a:rPr lang="en-US" dirty="0"/>
              <a:t> excel take the raw csv file and clean the data and give a clean format.</a:t>
            </a:r>
          </a:p>
          <a:p>
            <a:r>
              <a:rPr lang="en-US" dirty="0"/>
              <a:t>Functions include formatting, removing errors and structuring datasets in tables (pivot tables).</a:t>
            </a:r>
          </a:p>
          <a:p>
            <a:r>
              <a:rPr lang="en-US" dirty="0"/>
              <a:t>Make sure that the dataset is clean and consistent before any analysis.</a:t>
            </a:r>
          </a:p>
        </p:txBody>
      </p:sp>
    </p:spTree>
    <p:extLst>
      <p:ext uri="{BB962C8B-B14F-4D97-AF65-F5344CB8AC3E}">
        <p14:creationId xmlns:p14="http://schemas.microsoft.com/office/powerpoint/2010/main" val="4044959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620A6-7963-1299-00B4-5A475E9D415E}"/>
              </a:ext>
            </a:extLst>
          </p:cNvPr>
          <p:cNvSpPr>
            <a:spLocks noGrp="1"/>
          </p:cNvSpPr>
          <p:nvPr>
            <p:ph type="title"/>
          </p:nvPr>
        </p:nvSpPr>
        <p:spPr/>
        <p:txBody>
          <a:bodyPr/>
          <a:lstStyle/>
          <a:p>
            <a:r>
              <a:rPr lang="en-US" dirty="0"/>
              <a:t>Power BI – data analysis and visualization</a:t>
            </a:r>
          </a:p>
        </p:txBody>
      </p:sp>
      <p:sp>
        <p:nvSpPr>
          <p:cNvPr id="3" name="Content Placeholder 2">
            <a:extLst>
              <a:ext uri="{FF2B5EF4-FFF2-40B4-BE49-F238E27FC236}">
                <a16:creationId xmlns:a16="http://schemas.microsoft.com/office/drawing/2014/main" id="{459DEBCC-2344-146A-1CBF-267D8F3873F0}"/>
              </a:ext>
            </a:extLst>
          </p:cNvPr>
          <p:cNvSpPr>
            <a:spLocks noGrp="1"/>
          </p:cNvSpPr>
          <p:nvPr>
            <p:ph idx="1"/>
          </p:nvPr>
        </p:nvSpPr>
        <p:spPr/>
        <p:txBody>
          <a:bodyPr/>
          <a:lstStyle/>
          <a:p>
            <a:r>
              <a:rPr lang="en-US" dirty="0"/>
              <a:t>It is a business intelligence tool that transform data into interactive dashboards.</a:t>
            </a:r>
            <a:br>
              <a:rPr lang="en-US" dirty="0"/>
            </a:br>
            <a:endParaRPr lang="en-US" dirty="0"/>
          </a:p>
          <a:p>
            <a:r>
              <a:rPr lang="en-US" dirty="0"/>
              <a:t>It also use DAX(data analysis expressions)to do custom measures like total sales average price and comparisons.</a:t>
            </a:r>
            <a:br>
              <a:rPr lang="en-US" dirty="0"/>
            </a:br>
            <a:endParaRPr lang="en-US" dirty="0"/>
          </a:p>
          <a:p>
            <a:r>
              <a:rPr lang="en-US" dirty="0"/>
              <a:t>It enable real time dynamic data exploration.</a:t>
            </a:r>
          </a:p>
        </p:txBody>
      </p:sp>
    </p:spTree>
    <p:extLst>
      <p:ext uri="{BB962C8B-B14F-4D97-AF65-F5344CB8AC3E}">
        <p14:creationId xmlns:p14="http://schemas.microsoft.com/office/powerpoint/2010/main" val="2144106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3DAEB-B9AD-2BB8-1AC1-17DC7D609621}"/>
              </a:ext>
            </a:extLst>
          </p:cNvPr>
          <p:cNvSpPr>
            <a:spLocks noGrp="1"/>
          </p:cNvSpPr>
          <p:nvPr>
            <p:ph type="title"/>
          </p:nvPr>
        </p:nvSpPr>
        <p:spPr/>
        <p:txBody>
          <a:bodyPr/>
          <a:lstStyle/>
          <a:p>
            <a:r>
              <a:rPr lang="en-US" dirty="0"/>
              <a:t>Orange – data mining and predictive analysis</a:t>
            </a:r>
          </a:p>
        </p:txBody>
      </p:sp>
      <p:sp>
        <p:nvSpPr>
          <p:cNvPr id="3" name="Content Placeholder 2">
            <a:extLst>
              <a:ext uri="{FF2B5EF4-FFF2-40B4-BE49-F238E27FC236}">
                <a16:creationId xmlns:a16="http://schemas.microsoft.com/office/drawing/2014/main" id="{BDC0429A-507E-5F2B-0E1F-3A1F77889163}"/>
              </a:ext>
            </a:extLst>
          </p:cNvPr>
          <p:cNvSpPr>
            <a:spLocks noGrp="1"/>
          </p:cNvSpPr>
          <p:nvPr>
            <p:ph idx="1"/>
          </p:nvPr>
        </p:nvSpPr>
        <p:spPr/>
        <p:txBody>
          <a:bodyPr/>
          <a:lstStyle/>
          <a:p>
            <a:r>
              <a:rPr lang="en-US" dirty="0"/>
              <a:t>Orange is a machine learning and data mining platform.</a:t>
            </a:r>
            <a:br>
              <a:rPr lang="en-US" dirty="0"/>
            </a:br>
            <a:endParaRPr lang="en-US" dirty="0"/>
          </a:p>
          <a:p>
            <a:r>
              <a:rPr lang="en-US" dirty="0"/>
              <a:t>It's used to apply clustering, classification or predictive modeling on sales datasets.</a:t>
            </a:r>
            <a:br>
              <a:rPr lang="en-US" dirty="0"/>
            </a:br>
            <a:endParaRPr lang="en-US" dirty="0"/>
          </a:p>
          <a:p>
            <a:r>
              <a:rPr lang="en-US" dirty="0"/>
              <a:t>Helps move beyond descriptive analytics into predictive insights.</a:t>
            </a:r>
          </a:p>
        </p:txBody>
      </p:sp>
    </p:spTree>
    <p:extLst>
      <p:ext uri="{BB962C8B-B14F-4D97-AF65-F5344CB8AC3E}">
        <p14:creationId xmlns:p14="http://schemas.microsoft.com/office/powerpoint/2010/main" val="2113081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7262C-E748-1FBD-48A0-F6E8387E54BD}"/>
              </a:ext>
            </a:extLst>
          </p:cNvPr>
          <p:cNvSpPr>
            <a:spLocks noGrp="1"/>
          </p:cNvSpPr>
          <p:nvPr>
            <p:ph type="title"/>
          </p:nvPr>
        </p:nvSpPr>
        <p:spPr/>
        <p:txBody>
          <a:bodyPr/>
          <a:lstStyle/>
          <a:p>
            <a:r>
              <a:rPr lang="en-US" dirty="0"/>
              <a:t>Helium 10 – decision making</a:t>
            </a:r>
          </a:p>
        </p:txBody>
      </p:sp>
      <p:sp>
        <p:nvSpPr>
          <p:cNvPr id="3" name="Content Placeholder 2">
            <a:extLst>
              <a:ext uri="{FF2B5EF4-FFF2-40B4-BE49-F238E27FC236}">
                <a16:creationId xmlns:a16="http://schemas.microsoft.com/office/drawing/2014/main" id="{CFDD1987-D35F-088B-2CD8-D24CC4C8D39F}"/>
              </a:ext>
            </a:extLst>
          </p:cNvPr>
          <p:cNvSpPr>
            <a:spLocks noGrp="1"/>
          </p:cNvSpPr>
          <p:nvPr>
            <p:ph idx="1"/>
          </p:nvPr>
        </p:nvSpPr>
        <p:spPr/>
        <p:txBody>
          <a:bodyPr/>
          <a:lstStyle/>
          <a:p>
            <a:r>
              <a:rPr lang="en-US" dirty="0"/>
              <a:t>Helium 10 was my starting point because it gave me real sales data straight from Amazon for the three Razer keyboards. It provided details like sales rank, time, list price, and new price, so I could see exactly how each product performed over the year. This made the data reliable and realistic, helping me understand which products were most popular and how different pricing strategies influenced customer demand.</a:t>
            </a:r>
          </a:p>
          <a:p>
            <a:endParaRPr lang="en-US" dirty="0"/>
          </a:p>
        </p:txBody>
      </p:sp>
    </p:spTree>
    <p:extLst>
      <p:ext uri="{BB962C8B-B14F-4D97-AF65-F5344CB8AC3E}">
        <p14:creationId xmlns:p14="http://schemas.microsoft.com/office/powerpoint/2010/main" val="41171304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A42AA-862C-C64F-FA3D-B720F50EEE46}"/>
              </a:ext>
            </a:extLst>
          </p:cNvPr>
          <p:cNvSpPr>
            <a:spLocks noGrp="1"/>
          </p:cNvSpPr>
          <p:nvPr>
            <p:ph type="title"/>
          </p:nvPr>
        </p:nvSpPr>
        <p:spPr/>
        <p:txBody>
          <a:bodyPr/>
          <a:lstStyle/>
          <a:p>
            <a:r>
              <a:rPr lang="en-US" dirty="0"/>
              <a:t>Excel – decision making</a:t>
            </a:r>
          </a:p>
        </p:txBody>
      </p:sp>
      <p:sp>
        <p:nvSpPr>
          <p:cNvPr id="3" name="Content Placeholder 2">
            <a:extLst>
              <a:ext uri="{FF2B5EF4-FFF2-40B4-BE49-F238E27FC236}">
                <a16:creationId xmlns:a16="http://schemas.microsoft.com/office/drawing/2014/main" id="{0F78FEDB-D7AE-8820-C25A-E97B55E9A4B8}"/>
              </a:ext>
            </a:extLst>
          </p:cNvPr>
          <p:cNvSpPr>
            <a:spLocks noGrp="1"/>
          </p:cNvSpPr>
          <p:nvPr>
            <p:ph idx="1"/>
          </p:nvPr>
        </p:nvSpPr>
        <p:spPr/>
        <p:txBody>
          <a:bodyPr/>
          <a:lstStyle/>
          <a:p>
            <a:r>
              <a:rPr lang="en-US" dirty="0"/>
              <a:t>Once I had the raw data, I used Excel to clean and organize it. With pivot tables, filters, and formulas, I could shape the data into a format that made sense and was easy to analyze. This step was important because it removed errors and inconsistencies, so I knew I was working with accurate information. In other words, Excel made sure my analysis later on in Power BI and Orange was based on clean, trustworthy data.</a:t>
            </a:r>
          </a:p>
          <a:p>
            <a:endParaRPr lang="en-US" dirty="0"/>
          </a:p>
        </p:txBody>
      </p:sp>
    </p:spTree>
    <p:extLst>
      <p:ext uri="{BB962C8B-B14F-4D97-AF65-F5344CB8AC3E}">
        <p14:creationId xmlns:p14="http://schemas.microsoft.com/office/powerpoint/2010/main" val="3498379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B05E2-F559-41DE-618E-5921E8138F76}"/>
              </a:ext>
            </a:extLst>
          </p:cNvPr>
          <p:cNvSpPr>
            <a:spLocks noGrp="1"/>
          </p:cNvSpPr>
          <p:nvPr>
            <p:ph type="title"/>
          </p:nvPr>
        </p:nvSpPr>
        <p:spPr/>
        <p:txBody>
          <a:bodyPr/>
          <a:lstStyle/>
          <a:p>
            <a:r>
              <a:rPr lang="en-US" dirty="0"/>
              <a:t>Power BI – decision making</a:t>
            </a:r>
          </a:p>
        </p:txBody>
      </p:sp>
      <p:sp>
        <p:nvSpPr>
          <p:cNvPr id="3" name="Content Placeholder 2">
            <a:extLst>
              <a:ext uri="{FF2B5EF4-FFF2-40B4-BE49-F238E27FC236}">
                <a16:creationId xmlns:a16="http://schemas.microsoft.com/office/drawing/2014/main" id="{DDC52AF4-DCFE-E7E7-4FB7-33910469985F}"/>
              </a:ext>
            </a:extLst>
          </p:cNvPr>
          <p:cNvSpPr>
            <a:spLocks noGrp="1"/>
          </p:cNvSpPr>
          <p:nvPr>
            <p:ph idx="1"/>
          </p:nvPr>
        </p:nvSpPr>
        <p:spPr/>
        <p:txBody>
          <a:bodyPr/>
          <a:lstStyle/>
          <a:p>
            <a:r>
              <a:rPr lang="en-US" dirty="0"/>
              <a:t>Power BI came next, and this is where the data really started to tell a story. Using DAX functions like SUM, AVERAGE, and FILTER, I was able to create measures that showed things like total revenue, average selling price, and product comparisons. The dashboards in Power BI made it easy to see sales trends over time and spot differences between products. This way, decision-makers can quickly understand what’s going on and make smarter choices in real time.</a:t>
            </a:r>
          </a:p>
        </p:txBody>
      </p:sp>
    </p:spTree>
    <p:extLst>
      <p:ext uri="{BB962C8B-B14F-4D97-AF65-F5344CB8AC3E}">
        <p14:creationId xmlns:p14="http://schemas.microsoft.com/office/powerpoint/2010/main" val="9783849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19105-F50F-2DD2-3552-9EE3319FB06B}"/>
              </a:ext>
            </a:extLst>
          </p:cNvPr>
          <p:cNvSpPr>
            <a:spLocks noGrp="1"/>
          </p:cNvSpPr>
          <p:nvPr>
            <p:ph type="title"/>
          </p:nvPr>
        </p:nvSpPr>
        <p:spPr/>
        <p:txBody>
          <a:bodyPr/>
          <a:lstStyle/>
          <a:p>
            <a:r>
              <a:rPr lang="en-US" dirty="0"/>
              <a:t>Orange – decision making</a:t>
            </a:r>
          </a:p>
        </p:txBody>
      </p:sp>
      <p:sp>
        <p:nvSpPr>
          <p:cNvPr id="3" name="Content Placeholder 2">
            <a:extLst>
              <a:ext uri="{FF2B5EF4-FFF2-40B4-BE49-F238E27FC236}">
                <a16:creationId xmlns:a16="http://schemas.microsoft.com/office/drawing/2014/main" id="{39351468-1033-F8B3-34C4-E24B1A31887C}"/>
              </a:ext>
            </a:extLst>
          </p:cNvPr>
          <p:cNvSpPr>
            <a:spLocks noGrp="1"/>
          </p:cNvSpPr>
          <p:nvPr>
            <p:ph idx="1"/>
          </p:nvPr>
        </p:nvSpPr>
        <p:spPr/>
        <p:txBody>
          <a:bodyPr/>
          <a:lstStyle/>
          <a:p>
            <a:r>
              <a:rPr lang="en-US" dirty="0"/>
              <a:t>Finally, I used Orange to go beyond just describing the past. Orange applies data mining and machine learning to find hidden patterns and even predict future trends. For example, it can highlight unusual sales behavior or forecast which product might do better in the coming months. This turns the data from something that only explains what has already happened into a tool that helps plan for what’s next, making decisions much more proactive.</a:t>
            </a:r>
          </a:p>
        </p:txBody>
      </p:sp>
    </p:spTree>
    <p:extLst>
      <p:ext uri="{BB962C8B-B14F-4D97-AF65-F5344CB8AC3E}">
        <p14:creationId xmlns:p14="http://schemas.microsoft.com/office/powerpoint/2010/main" val="2716665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21569-2C5A-8823-EFC6-0EF4019EFA4C}"/>
              </a:ext>
            </a:extLst>
          </p:cNvPr>
          <p:cNvSpPr>
            <a:spLocks noGrp="1"/>
          </p:cNvSpPr>
          <p:nvPr>
            <p:ph type="title"/>
          </p:nvPr>
        </p:nvSpPr>
        <p:spPr/>
        <p:txBody>
          <a:bodyPr/>
          <a:lstStyle/>
          <a:p>
            <a:r>
              <a:rPr lang="en-US" dirty="0"/>
              <a:t>Business Process Supported</a:t>
            </a:r>
          </a:p>
        </p:txBody>
      </p:sp>
      <p:sp>
        <p:nvSpPr>
          <p:cNvPr id="3" name="Content Placeholder 2">
            <a:extLst>
              <a:ext uri="{FF2B5EF4-FFF2-40B4-BE49-F238E27FC236}">
                <a16:creationId xmlns:a16="http://schemas.microsoft.com/office/drawing/2014/main" id="{6F22ED70-5569-6A0A-6C25-C8D7903524FD}"/>
              </a:ext>
            </a:extLst>
          </p:cNvPr>
          <p:cNvSpPr>
            <a:spLocks noGrp="1"/>
          </p:cNvSpPr>
          <p:nvPr>
            <p:ph idx="1"/>
          </p:nvPr>
        </p:nvSpPr>
        <p:spPr/>
        <p:txBody>
          <a:bodyPr/>
          <a:lstStyle/>
          <a:p>
            <a:r>
              <a:rPr lang="en-US" dirty="0"/>
              <a:t>Business Process Supported: Marketing and Sales Optimization (through sales monitoring and data-driven decision-making)It tracks product performance over time using sales rank, list price, and new price.</a:t>
            </a:r>
          </a:p>
          <a:p>
            <a:r>
              <a:rPr lang="en-US" dirty="0"/>
              <a:t>Tracks product performance using time, sales rank, list price, and new price</a:t>
            </a:r>
          </a:p>
          <a:p>
            <a:r>
              <a:rPr lang="en-US" dirty="0"/>
              <a:t>Focuses on sales monitoring and marketing decision-making</a:t>
            </a:r>
          </a:p>
          <a:p>
            <a:r>
              <a:rPr lang="en-US" dirty="0"/>
              <a:t>Ensures decisions are based on data, not assumptions</a:t>
            </a:r>
          </a:p>
        </p:txBody>
      </p:sp>
    </p:spTree>
    <p:extLst>
      <p:ext uri="{BB962C8B-B14F-4D97-AF65-F5344CB8AC3E}">
        <p14:creationId xmlns:p14="http://schemas.microsoft.com/office/powerpoint/2010/main" val="32296608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DD21A-ED11-DE0A-6BF6-828CC5D09E66}"/>
              </a:ext>
            </a:extLst>
          </p:cNvPr>
          <p:cNvSpPr>
            <a:spLocks noGrp="1"/>
          </p:cNvSpPr>
          <p:nvPr>
            <p:ph type="title"/>
          </p:nvPr>
        </p:nvSpPr>
        <p:spPr/>
        <p:txBody>
          <a:bodyPr/>
          <a:lstStyle/>
          <a:p>
            <a:r>
              <a:rPr lang="en-US" sz="4000"/>
              <a:t>Value for the Marketing Department</a:t>
            </a:r>
          </a:p>
        </p:txBody>
      </p:sp>
      <p:sp>
        <p:nvSpPr>
          <p:cNvPr id="3" name="Content Placeholder 2">
            <a:extLst>
              <a:ext uri="{FF2B5EF4-FFF2-40B4-BE49-F238E27FC236}">
                <a16:creationId xmlns:a16="http://schemas.microsoft.com/office/drawing/2014/main" id="{BB80030A-EE33-BC3F-B1C9-171AE68D6691}"/>
              </a:ext>
            </a:extLst>
          </p:cNvPr>
          <p:cNvSpPr>
            <a:spLocks noGrp="1"/>
          </p:cNvSpPr>
          <p:nvPr>
            <p:ph idx="1"/>
          </p:nvPr>
        </p:nvSpPr>
        <p:spPr/>
        <p:txBody>
          <a:bodyPr/>
          <a:lstStyle/>
          <a:p>
            <a:r>
              <a:rPr lang="en-US" dirty="0"/>
              <a:t>Marketing Department Benefits: Smarter Campaigns and Pricing Strategies.</a:t>
            </a:r>
          </a:p>
          <a:p>
            <a:r>
              <a:rPr lang="en-US" dirty="0"/>
              <a:t>Sales Visibility: Gives marketers a clear view of demand and product performance over time.</a:t>
            </a:r>
          </a:p>
          <a:p>
            <a:r>
              <a:rPr lang="en-US" dirty="0"/>
              <a:t>Promotion Timing: Identifies peak sales periods, helping plan campaigns when customers are most active.</a:t>
            </a:r>
          </a:p>
          <a:p>
            <a:r>
              <a:rPr lang="en-US" dirty="0"/>
              <a:t>Pricing Insights: Shows how price changes and discounts affect overall sales performance.</a:t>
            </a:r>
          </a:p>
          <a:p>
            <a:r>
              <a:rPr lang="en-US" dirty="0"/>
              <a:t>Product Focus: Compares premium vs budget products, guiding where to invest marketing efforts.</a:t>
            </a:r>
          </a:p>
        </p:txBody>
      </p:sp>
    </p:spTree>
    <p:extLst>
      <p:ext uri="{BB962C8B-B14F-4D97-AF65-F5344CB8AC3E}">
        <p14:creationId xmlns:p14="http://schemas.microsoft.com/office/powerpoint/2010/main" val="34549701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568B9-CD65-590A-76A8-B4386CB47517}"/>
              </a:ext>
            </a:extLst>
          </p:cNvPr>
          <p:cNvSpPr>
            <a:spLocks noGrp="1"/>
          </p:cNvSpPr>
          <p:nvPr>
            <p:ph type="title"/>
          </p:nvPr>
        </p:nvSpPr>
        <p:spPr/>
        <p:txBody>
          <a:bodyPr/>
          <a:lstStyle/>
          <a:p>
            <a:r>
              <a:rPr lang="en-US" dirty="0"/>
              <a:t>Value for the Company as a Whole</a:t>
            </a:r>
          </a:p>
        </p:txBody>
      </p:sp>
      <p:sp>
        <p:nvSpPr>
          <p:cNvPr id="3" name="Content Placeholder 2">
            <a:extLst>
              <a:ext uri="{FF2B5EF4-FFF2-40B4-BE49-F238E27FC236}">
                <a16:creationId xmlns:a16="http://schemas.microsoft.com/office/drawing/2014/main" id="{F87B9C27-A14C-B474-90E2-6967F9CE15EA}"/>
              </a:ext>
            </a:extLst>
          </p:cNvPr>
          <p:cNvSpPr>
            <a:spLocks noGrp="1"/>
          </p:cNvSpPr>
          <p:nvPr>
            <p:ph idx="1"/>
          </p:nvPr>
        </p:nvSpPr>
        <p:spPr/>
        <p:txBody>
          <a:bodyPr/>
          <a:lstStyle/>
          <a:p>
            <a:r>
              <a:rPr lang="en-US" dirty="0"/>
              <a:t>Company-Wide Benefits: Stronger Strategic, Tactical, and Operational Decisions.</a:t>
            </a:r>
          </a:p>
          <a:p>
            <a:r>
              <a:rPr lang="en-US" dirty="0"/>
              <a:t>Executives: insights for long-term strategic planning.</a:t>
            </a:r>
          </a:p>
          <a:p>
            <a:r>
              <a:rPr lang="en-US" dirty="0"/>
              <a:t>Sales managers: better daily decisions on stock and discounts.</a:t>
            </a:r>
          </a:p>
          <a:p>
            <a:r>
              <a:rPr lang="en-US" dirty="0"/>
              <a:t>Brand managers: evaluate market positioning and brand health.</a:t>
            </a:r>
          </a:p>
          <a:p>
            <a:r>
              <a:rPr lang="en-US" dirty="0"/>
              <a:t>Improves decision-making at all levels (strategic, tactical, operational) and Leads to reduced risks, optimized resources, and stronger growth.</a:t>
            </a:r>
          </a:p>
          <a:p>
            <a:endParaRPr lang="en-US" dirty="0"/>
          </a:p>
          <a:p>
            <a:endParaRPr lang="en-US" dirty="0"/>
          </a:p>
        </p:txBody>
      </p:sp>
    </p:spTree>
    <p:extLst>
      <p:ext uri="{BB962C8B-B14F-4D97-AF65-F5344CB8AC3E}">
        <p14:creationId xmlns:p14="http://schemas.microsoft.com/office/powerpoint/2010/main" val="34586340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A7363-9327-A106-78A8-8FEA7A96B904}"/>
              </a:ext>
            </a:extLst>
          </p:cNvPr>
          <p:cNvSpPr>
            <a:spLocks noGrp="1"/>
          </p:cNvSpPr>
          <p:nvPr>
            <p:ph type="title"/>
          </p:nvPr>
        </p:nvSpPr>
        <p:spPr/>
        <p:txBody>
          <a:bodyPr/>
          <a:lstStyle/>
          <a:p>
            <a:r>
              <a:rPr lang="en-US"/>
              <a:t>Stakeholder Value Assessment</a:t>
            </a:r>
          </a:p>
        </p:txBody>
      </p:sp>
      <p:sp>
        <p:nvSpPr>
          <p:cNvPr id="3" name="Content Placeholder 2">
            <a:extLst>
              <a:ext uri="{FF2B5EF4-FFF2-40B4-BE49-F238E27FC236}">
                <a16:creationId xmlns:a16="http://schemas.microsoft.com/office/drawing/2014/main" id="{CA973459-7578-6128-1BA6-F35210599D45}"/>
              </a:ext>
            </a:extLst>
          </p:cNvPr>
          <p:cNvSpPr>
            <a:spLocks noGrp="1"/>
          </p:cNvSpPr>
          <p:nvPr>
            <p:ph idx="1"/>
          </p:nvPr>
        </p:nvSpPr>
        <p:spPr/>
        <p:txBody>
          <a:bodyPr/>
          <a:lstStyle/>
          <a:p>
            <a:r>
              <a:rPr lang="en-US" dirty="0"/>
              <a:t>Brand Managers</a:t>
            </a:r>
          </a:p>
          <a:p>
            <a:pPr lvl="1"/>
            <a:r>
              <a:rPr lang="en-US" dirty="0"/>
              <a:t>Trend Visibility: Brand managers can clearly see how each Razer keyboard performs across the year, identifying periods of growth and decline in sales rank.</a:t>
            </a:r>
          </a:p>
          <a:p>
            <a:pPr lvl="1"/>
            <a:r>
              <a:rPr lang="en-US" dirty="0"/>
              <a:t>Product Comparison: They can compare performance between Ornata V3, Huntsman Mini, and </a:t>
            </a:r>
            <a:r>
              <a:rPr lang="en-US" dirty="0" err="1"/>
              <a:t>BlackWidow</a:t>
            </a:r>
            <a:r>
              <a:rPr lang="en-US" dirty="0"/>
              <a:t> V4 to determine which model needs stronger marketing support.</a:t>
            </a:r>
          </a:p>
          <a:p>
            <a:pPr lvl="1"/>
            <a:r>
              <a:rPr lang="en-US" dirty="0"/>
              <a:t>Discount Sensitivity: Data on list price vs. new price helps them understand how customers react to discounts, guiding future pricing strategies without damaging brand perception.</a:t>
            </a:r>
          </a:p>
        </p:txBody>
      </p:sp>
    </p:spTree>
    <p:extLst>
      <p:ext uri="{BB962C8B-B14F-4D97-AF65-F5344CB8AC3E}">
        <p14:creationId xmlns:p14="http://schemas.microsoft.com/office/powerpoint/2010/main" val="1809628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50B97-52F3-C2C4-98E1-0A9D95957B91}"/>
              </a:ext>
            </a:extLst>
          </p:cNvPr>
          <p:cNvSpPr>
            <a:spLocks noGrp="1"/>
          </p:cNvSpPr>
          <p:nvPr>
            <p:ph type="title"/>
          </p:nvPr>
        </p:nvSpPr>
        <p:spPr/>
        <p:txBody>
          <a:bodyPr/>
          <a:lstStyle/>
          <a:p>
            <a:r>
              <a:rPr lang="en-US" dirty="0"/>
              <a:t>Stakeholder Value Assessment</a:t>
            </a:r>
          </a:p>
        </p:txBody>
      </p:sp>
      <p:sp>
        <p:nvSpPr>
          <p:cNvPr id="3" name="Content Placeholder 2">
            <a:extLst>
              <a:ext uri="{FF2B5EF4-FFF2-40B4-BE49-F238E27FC236}">
                <a16:creationId xmlns:a16="http://schemas.microsoft.com/office/drawing/2014/main" id="{2BDF0555-11A5-EEAA-1409-6A92C5644E45}"/>
              </a:ext>
            </a:extLst>
          </p:cNvPr>
          <p:cNvSpPr>
            <a:spLocks noGrp="1"/>
          </p:cNvSpPr>
          <p:nvPr>
            <p:ph idx="1"/>
          </p:nvPr>
        </p:nvSpPr>
        <p:spPr/>
        <p:txBody>
          <a:bodyPr/>
          <a:lstStyle/>
          <a:p>
            <a:r>
              <a:rPr lang="en-US" dirty="0"/>
              <a:t>Sales Managers</a:t>
            </a:r>
          </a:p>
          <a:p>
            <a:pPr lvl="1"/>
            <a:r>
              <a:rPr lang="en-US" dirty="0"/>
              <a:t>Promotion Planning: Sales managers can analyze which months respond best to price cuts or promotions, making campaigns more effective and less wasteful.</a:t>
            </a:r>
          </a:p>
          <a:p>
            <a:pPr lvl="1"/>
            <a:r>
              <a:rPr lang="en-US" dirty="0"/>
              <a:t>Target Setting: With clear historical trends, they can set realistic sales targets for each product, improving team motivation and performance tracking.</a:t>
            </a:r>
          </a:p>
          <a:p>
            <a:pPr lvl="1"/>
            <a:r>
              <a:rPr lang="en-US" dirty="0"/>
              <a:t>Performance Review: Data allows them to evaluate past campaigns, learning which strategies worked and which products failed to meet expectations, improving future planning.</a:t>
            </a:r>
          </a:p>
        </p:txBody>
      </p:sp>
    </p:spTree>
    <p:extLst>
      <p:ext uri="{BB962C8B-B14F-4D97-AF65-F5344CB8AC3E}">
        <p14:creationId xmlns:p14="http://schemas.microsoft.com/office/powerpoint/2010/main" val="34980480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3E638-EADB-D307-9F1C-061971CE5259}"/>
              </a:ext>
            </a:extLst>
          </p:cNvPr>
          <p:cNvSpPr>
            <a:spLocks noGrp="1"/>
          </p:cNvSpPr>
          <p:nvPr>
            <p:ph type="title"/>
          </p:nvPr>
        </p:nvSpPr>
        <p:spPr/>
        <p:txBody>
          <a:bodyPr/>
          <a:lstStyle/>
          <a:p>
            <a:r>
              <a:rPr lang="en-US" dirty="0"/>
              <a:t>Stakeholder Value Assessment</a:t>
            </a:r>
          </a:p>
        </p:txBody>
      </p:sp>
      <p:sp>
        <p:nvSpPr>
          <p:cNvPr id="3" name="Content Placeholder 2">
            <a:extLst>
              <a:ext uri="{FF2B5EF4-FFF2-40B4-BE49-F238E27FC236}">
                <a16:creationId xmlns:a16="http://schemas.microsoft.com/office/drawing/2014/main" id="{DE416C69-0D24-8E13-B385-2857D0F7E7BF}"/>
              </a:ext>
            </a:extLst>
          </p:cNvPr>
          <p:cNvSpPr>
            <a:spLocks noGrp="1"/>
          </p:cNvSpPr>
          <p:nvPr>
            <p:ph idx="1"/>
          </p:nvPr>
        </p:nvSpPr>
        <p:spPr/>
        <p:txBody>
          <a:bodyPr/>
          <a:lstStyle/>
          <a:p>
            <a:r>
              <a:rPr lang="en-US" dirty="0"/>
              <a:t>Company Executives </a:t>
            </a:r>
          </a:p>
          <a:p>
            <a:pPr lvl="1"/>
            <a:r>
              <a:rPr lang="en-US" dirty="0"/>
              <a:t>High-Level Insights: Executives gain a big-picture view of overall product health, seeing which Razer keyboards are profitable, stable, or underperforming.</a:t>
            </a:r>
          </a:p>
          <a:p>
            <a:pPr lvl="1"/>
            <a:r>
              <a:rPr lang="en-US" dirty="0"/>
              <a:t>Investment Planning: They can decide where to allocate budgets, such as investing more in high-performing premium products or boosting weaker ones with promotions.</a:t>
            </a:r>
          </a:p>
          <a:p>
            <a:pPr lvl="1"/>
            <a:r>
              <a:rPr lang="en-US" dirty="0"/>
              <a:t>KPI Monitoring: Dashboards give executives measurable KPIs (sales rank, revenue impact, price trends), enabling more confident and data-driven strategic decisions.</a:t>
            </a:r>
          </a:p>
        </p:txBody>
      </p:sp>
    </p:spTree>
    <p:extLst>
      <p:ext uri="{BB962C8B-B14F-4D97-AF65-F5344CB8AC3E}">
        <p14:creationId xmlns:p14="http://schemas.microsoft.com/office/powerpoint/2010/main" val="26744583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566FC-B836-5028-9193-BEC0760516A3}"/>
              </a:ext>
            </a:extLst>
          </p:cNvPr>
          <p:cNvSpPr>
            <a:spLocks noGrp="1"/>
          </p:cNvSpPr>
          <p:nvPr>
            <p:ph type="title"/>
          </p:nvPr>
        </p:nvSpPr>
        <p:spPr/>
        <p:txBody>
          <a:bodyPr/>
          <a:lstStyle/>
          <a:p>
            <a:r>
              <a:rPr lang="en-US" dirty="0"/>
              <a:t>Evaluation of Stakeholder Impact – over all evaluation</a:t>
            </a:r>
          </a:p>
        </p:txBody>
      </p:sp>
      <p:sp>
        <p:nvSpPr>
          <p:cNvPr id="3" name="Content Placeholder 2">
            <a:extLst>
              <a:ext uri="{FF2B5EF4-FFF2-40B4-BE49-F238E27FC236}">
                <a16:creationId xmlns:a16="http://schemas.microsoft.com/office/drawing/2014/main" id="{FCCCC860-6538-9226-C4E0-8A457E498519}"/>
              </a:ext>
            </a:extLst>
          </p:cNvPr>
          <p:cNvSpPr>
            <a:spLocks noGrp="1"/>
          </p:cNvSpPr>
          <p:nvPr>
            <p:ph idx="1"/>
          </p:nvPr>
        </p:nvSpPr>
        <p:spPr>
          <a:xfrm>
            <a:off x="1104293" y="2071968"/>
            <a:ext cx="8946541" cy="4195481"/>
          </a:xfrm>
        </p:spPr>
        <p:txBody>
          <a:bodyPr/>
          <a:lstStyle/>
          <a:p>
            <a:r>
              <a:rPr lang="en-US" dirty="0"/>
              <a:t>Brand Managers: Benefit significantly from sales rank and pricing insights, as this helps them adjust product positioning, evaluate market competitiveness, and align brand perception with customer expectations.</a:t>
            </a:r>
          </a:p>
          <a:p>
            <a:r>
              <a:rPr lang="en-US" dirty="0"/>
              <a:t>Sales Managers: Gain the most practical and immediate value, since they use sales data to plan promotions, set realistic targets, and review performance to improve daily and monthly operations.</a:t>
            </a:r>
          </a:p>
          <a:p>
            <a:r>
              <a:rPr lang="en-US" dirty="0"/>
              <a:t>Company Executives: Receive high-level strategic insights, enabling them to decide where to invest, how to balance the product portfolio, and how to guide long-term company growth.</a:t>
            </a:r>
          </a:p>
          <a:p>
            <a:endParaRPr lang="en-US" dirty="0"/>
          </a:p>
        </p:txBody>
      </p:sp>
    </p:spTree>
    <p:extLst>
      <p:ext uri="{BB962C8B-B14F-4D97-AF65-F5344CB8AC3E}">
        <p14:creationId xmlns:p14="http://schemas.microsoft.com/office/powerpoint/2010/main" val="17947136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8A2F9-FA2F-AD26-A23B-889BB40775FD}"/>
              </a:ext>
            </a:extLst>
          </p:cNvPr>
          <p:cNvSpPr>
            <a:spLocks noGrp="1"/>
          </p:cNvSpPr>
          <p:nvPr>
            <p:ph type="title"/>
          </p:nvPr>
        </p:nvSpPr>
        <p:spPr/>
        <p:txBody>
          <a:bodyPr/>
          <a:lstStyle/>
          <a:p>
            <a:r>
              <a:rPr lang="en-US" dirty="0"/>
              <a:t>Flow chart and explanation</a:t>
            </a:r>
          </a:p>
        </p:txBody>
      </p:sp>
      <p:sp>
        <p:nvSpPr>
          <p:cNvPr id="10" name="TextBox 9">
            <a:extLst>
              <a:ext uri="{FF2B5EF4-FFF2-40B4-BE49-F238E27FC236}">
                <a16:creationId xmlns:a16="http://schemas.microsoft.com/office/drawing/2014/main" id="{99532861-933D-F925-F7BB-316EC11DBDAC}"/>
              </a:ext>
            </a:extLst>
          </p:cNvPr>
          <p:cNvSpPr txBox="1"/>
          <p:nvPr/>
        </p:nvSpPr>
        <p:spPr>
          <a:xfrm>
            <a:off x="57150" y="6405282"/>
            <a:ext cx="1835150" cy="276999"/>
          </a:xfrm>
          <a:prstGeom prst="rect">
            <a:avLst/>
          </a:prstGeom>
          <a:noFill/>
        </p:spPr>
        <p:txBody>
          <a:bodyPr wrap="square" rtlCol="0">
            <a:spAutoFit/>
          </a:bodyPr>
          <a:lstStyle/>
          <a:p>
            <a:r>
              <a:rPr lang="en-US" sz="1200" dirty="0"/>
              <a:t>Look in notes</a:t>
            </a:r>
          </a:p>
        </p:txBody>
      </p:sp>
      <p:pic>
        <p:nvPicPr>
          <p:cNvPr id="16" name="Picture 15" descr="A black screen with white text&#10;&#10;AI-generated content may be incorrect.">
            <a:extLst>
              <a:ext uri="{FF2B5EF4-FFF2-40B4-BE49-F238E27FC236}">
                <a16:creationId xmlns:a16="http://schemas.microsoft.com/office/drawing/2014/main" id="{E4BEA9BB-FB55-59FB-AD5E-C934798B9E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53511" y="107302"/>
            <a:ext cx="1746138" cy="6643396"/>
          </a:xfrm>
          <a:prstGeom prst="rect">
            <a:avLst/>
          </a:prstGeom>
        </p:spPr>
      </p:pic>
    </p:spTree>
    <p:extLst>
      <p:ext uri="{BB962C8B-B14F-4D97-AF65-F5344CB8AC3E}">
        <p14:creationId xmlns:p14="http://schemas.microsoft.com/office/powerpoint/2010/main" val="30168002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49CFB-0E68-E76A-EB15-301F54F4BA50}"/>
              </a:ext>
            </a:extLst>
          </p:cNvPr>
          <p:cNvSpPr>
            <a:spLocks noGrp="1"/>
          </p:cNvSpPr>
          <p:nvPr>
            <p:ph type="title"/>
          </p:nvPr>
        </p:nvSpPr>
        <p:spPr/>
        <p:txBody>
          <a:bodyPr/>
          <a:lstStyle/>
          <a:p>
            <a:pPr algn="ctr"/>
            <a:r>
              <a:rPr lang="en-US" dirty="0"/>
              <a:t>orange</a:t>
            </a:r>
          </a:p>
        </p:txBody>
      </p:sp>
      <p:pic>
        <p:nvPicPr>
          <p:cNvPr id="9" name="Content Placeholder 8">
            <a:extLst>
              <a:ext uri="{FF2B5EF4-FFF2-40B4-BE49-F238E27FC236}">
                <a16:creationId xmlns:a16="http://schemas.microsoft.com/office/drawing/2014/main" id="{16C29BCF-49B4-EF4B-BD1D-3AC610279228}"/>
              </a:ext>
            </a:extLst>
          </p:cNvPr>
          <p:cNvPicPr>
            <a:picLocks noGrp="1" noChangeAspect="1"/>
          </p:cNvPicPr>
          <p:nvPr>
            <p:ph idx="1"/>
          </p:nvPr>
        </p:nvPicPr>
        <p:blipFill>
          <a:blip r:embed="rId2"/>
          <a:stretch>
            <a:fillRect/>
          </a:stretch>
        </p:blipFill>
        <p:spPr>
          <a:xfrm>
            <a:off x="1528379" y="2052638"/>
            <a:ext cx="8097017" cy="4195762"/>
          </a:xfrm>
          <a:prstGeom prst="rect">
            <a:avLst/>
          </a:prstGeom>
        </p:spPr>
      </p:pic>
    </p:spTree>
    <p:extLst>
      <p:ext uri="{BB962C8B-B14F-4D97-AF65-F5344CB8AC3E}">
        <p14:creationId xmlns:p14="http://schemas.microsoft.com/office/powerpoint/2010/main" val="28922677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D48DB-3FDF-D76E-53AF-F7737F1F860D}"/>
              </a:ext>
            </a:extLst>
          </p:cNvPr>
          <p:cNvSpPr>
            <a:spLocks noGrp="1"/>
          </p:cNvSpPr>
          <p:nvPr>
            <p:ph type="title"/>
          </p:nvPr>
        </p:nvSpPr>
        <p:spPr/>
        <p:txBody>
          <a:bodyPr/>
          <a:lstStyle/>
          <a:p>
            <a:r>
              <a:rPr lang="en-US" dirty="0" err="1"/>
              <a:t>BlackWidow</a:t>
            </a:r>
            <a:r>
              <a:rPr lang="en-US" dirty="0"/>
              <a:t> V4 - dashboard</a:t>
            </a:r>
          </a:p>
        </p:txBody>
      </p:sp>
      <p:pic>
        <p:nvPicPr>
          <p:cNvPr id="6" name="Content Placeholder 5">
            <a:extLst>
              <a:ext uri="{FF2B5EF4-FFF2-40B4-BE49-F238E27FC236}">
                <a16:creationId xmlns:a16="http://schemas.microsoft.com/office/drawing/2014/main" id="{9AD086E1-BD86-9E4D-0761-AB6F2938710F}"/>
              </a:ext>
            </a:extLst>
          </p:cNvPr>
          <p:cNvPicPr>
            <a:picLocks noGrp="1" noChangeAspect="1"/>
          </p:cNvPicPr>
          <p:nvPr>
            <p:ph idx="1"/>
          </p:nvPr>
        </p:nvPicPr>
        <p:blipFill>
          <a:blip r:embed="rId2"/>
          <a:stretch>
            <a:fillRect/>
          </a:stretch>
        </p:blipFill>
        <p:spPr>
          <a:xfrm>
            <a:off x="1849662" y="2052638"/>
            <a:ext cx="7454452" cy="4195762"/>
          </a:xfrm>
          <a:prstGeom prst="rect">
            <a:avLst/>
          </a:prstGeom>
        </p:spPr>
      </p:pic>
    </p:spTree>
    <p:extLst>
      <p:ext uri="{BB962C8B-B14F-4D97-AF65-F5344CB8AC3E}">
        <p14:creationId xmlns:p14="http://schemas.microsoft.com/office/powerpoint/2010/main" val="7168534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8D760-575E-5C81-3531-B676D44589C6}"/>
              </a:ext>
            </a:extLst>
          </p:cNvPr>
          <p:cNvSpPr>
            <a:spLocks noGrp="1"/>
          </p:cNvSpPr>
          <p:nvPr>
            <p:ph type="title"/>
          </p:nvPr>
        </p:nvSpPr>
        <p:spPr/>
        <p:txBody>
          <a:bodyPr/>
          <a:lstStyle/>
          <a:p>
            <a:r>
              <a:rPr lang="en-US" dirty="0" err="1"/>
              <a:t>BlackWidow</a:t>
            </a:r>
            <a:r>
              <a:rPr lang="en-US" dirty="0"/>
              <a:t> V4-dashboard analysis</a:t>
            </a:r>
          </a:p>
        </p:txBody>
      </p:sp>
      <p:graphicFrame>
        <p:nvGraphicFramePr>
          <p:cNvPr id="4" name="Content Placeholder 3">
            <a:extLst>
              <a:ext uri="{FF2B5EF4-FFF2-40B4-BE49-F238E27FC236}">
                <a16:creationId xmlns:a16="http://schemas.microsoft.com/office/drawing/2014/main" id="{1095CF77-442B-E926-0AE2-4BAAC28A937D}"/>
              </a:ext>
            </a:extLst>
          </p:cNvPr>
          <p:cNvGraphicFramePr>
            <a:graphicFrameLocks noGrp="1"/>
          </p:cNvGraphicFramePr>
          <p:nvPr>
            <p:ph idx="1"/>
            <p:extLst>
              <p:ext uri="{D42A27DB-BD31-4B8C-83A1-F6EECF244321}">
                <p14:modId xmlns:p14="http://schemas.microsoft.com/office/powerpoint/2010/main" val="3557123733"/>
              </p:ext>
            </p:extLst>
          </p:nvPr>
        </p:nvGraphicFramePr>
        <p:xfrm>
          <a:off x="1103313" y="2230279"/>
          <a:ext cx="8947150" cy="3840480"/>
        </p:xfrm>
        <a:graphic>
          <a:graphicData uri="http://schemas.openxmlformats.org/drawingml/2006/table">
            <a:tbl>
              <a:tblPr/>
              <a:tblGrid>
                <a:gridCol w="4473575">
                  <a:extLst>
                    <a:ext uri="{9D8B030D-6E8A-4147-A177-3AD203B41FA5}">
                      <a16:colId xmlns:a16="http://schemas.microsoft.com/office/drawing/2014/main" val="695055370"/>
                    </a:ext>
                  </a:extLst>
                </a:gridCol>
                <a:gridCol w="4473575">
                  <a:extLst>
                    <a:ext uri="{9D8B030D-6E8A-4147-A177-3AD203B41FA5}">
                      <a16:colId xmlns:a16="http://schemas.microsoft.com/office/drawing/2014/main" val="3559306075"/>
                    </a:ext>
                  </a:extLst>
                </a:gridCol>
              </a:tblGrid>
              <a:tr h="0">
                <a:tc>
                  <a:txBody>
                    <a:bodyPr/>
                    <a:lstStyle/>
                    <a:p>
                      <a:pPr>
                        <a:buNone/>
                      </a:pPr>
                      <a:r>
                        <a:rPr lang="en-US" b="1"/>
                        <a:t>Chart / KPI</a:t>
                      </a:r>
                      <a:endParaRPr lang="en-US"/>
                    </a:p>
                  </a:txBody>
                  <a:tcPr anchor="ctr">
                    <a:lnL>
                      <a:noFill/>
                    </a:lnL>
                    <a:lnR>
                      <a:noFill/>
                    </a:lnR>
                    <a:lnT>
                      <a:noFill/>
                    </a:lnT>
                    <a:lnB>
                      <a:noFill/>
                    </a:lnB>
                    <a:noFill/>
                  </a:tcPr>
                </a:tc>
                <a:tc>
                  <a:txBody>
                    <a:bodyPr/>
                    <a:lstStyle/>
                    <a:p>
                      <a:pPr>
                        <a:buNone/>
                      </a:pPr>
                      <a:r>
                        <a:rPr lang="en-US" b="1" dirty="0"/>
                        <a:t>Analysis</a:t>
                      </a:r>
                    </a:p>
                  </a:txBody>
                  <a:tcPr anchor="ctr">
                    <a:lnL>
                      <a:noFill/>
                    </a:lnL>
                    <a:lnR>
                      <a:noFill/>
                    </a:lnR>
                    <a:lnT>
                      <a:noFill/>
                    </a:lnT>
                    <a:lnB>
                      <a:noFill/>
                    </a:lnB>
                    <a:noFill/>
                  </a:tcPr>
                </a:tc>
                <a:extLst>
                  <a:ext uri="{0D108BD9-81ED-4DB2-BD59-A6C34878D82A}">
                    <a16:rowId xmlns:a16="http://schemas.microsoft.com/office/drawing/2014/main" val="2234265969"/>
                  </a:ext>
                </a:extLst>
              </a:tr>
              <a:tr h="0">
                <a:tc>
                  <a:txBody>
                    <a:bodyPr/>
                    <a:lstStyle/>
                    <a:p>
                      <a:pPr>
                        <a:buNone/>
                      </a:pPr>
                      <a:r>
                        <a:rPr lang="en-US" b="1"/>
                        <a:t>Sales Rank Trend</a:t>
                      </a:r>
                      <a:endParaRPr lang="en-US"/>
                    </a:p>
                  </a:txBody>
                  <a:tcPr anchor="ctr">
                    <a:lnL>
                      <a:noFill/>
                    </a:lnL>
                    <a:lnR>
                      <a:noFill/>
                    </a:lnR>
                    <a:lnT>
                      <a:noFill/>
                    </a:lnT>
                    <a:lnB>
                      <a:noFill/>
                    </a:lnB>
                    <a:noFill/>
                  </a:tcPr>
                </a:tc>
                <a:tc>
                  <a:txBody>
                    <a:bodyPr/>
                    <a:lstStyle/>
                    <a:p>
                      <a:pPr>
                        <a:buNone/>
                      </a:pPr>
                      <a:r>
                        <a:rPr lang="en-US" b="0"/>
                        <a:t>Rank shows instability, with weaker performance in Q3–Q4.</a:t>
                      </a:r>
                    </a:p>
                  </a:txBody>
                  <a:tcPr anchor="ctr">
                    <a:lnL>
                      <a:noFill/>
                    </a:lnL>
                    <a:lnR>
                      <a:noFill/>
                    </a:lnR>
                    <a:lnT>
                      <a:noFill/>
                    </a:lnT>
                    <a:lnB>
                      <a:noFill/>
                    </a:lnB>
                    <a:noFill/>
                  </a:tcPr>
                </a:tc>
                <a:extLst>
                  <a:ext uri="{0D108BD9-81ED-4DB2-BD59-A6C34878D82A}">
                    <a16:rowId xmlns:a16="http://schemas.microsoft.com/office/drawing/2014/main" val="3845923220"/>
                  </a:ext>
                </a:extLst>
              </a:tr>
              <a:tr h="0">
                <a:tc>
                  <a:txBody>
                    <a:bodyPr/>
                    <a:lstStyle/>
                    <a:p>
                      <a:pPr>
                        <a:buNone/>
                      </a:pPr>
                      <a:r>
                        <a:rPr lang="en-US" b="1" dirty="0"/>
                        <a:t>Average New Price</a:t>
                      </a:r>
                      <a:endParaRPr lang="en-US" dirty="0"/>
                    </a:p>
                  </a:txBody>
                  <a:tcPr anchor="ctr">
                    <a:lnL>
                      <a:noFill/>
                    </a:lnL>
                    <a:lnR>
                      <a:noFill/>
                    </a:lnR>
                    <a:lnT>
                      <a:noFill/>
                    </a:lnT>
                    <a:lnB>
                      <a:noFill/>
                    </a:lnB>
                    <a:noFill/>
                  </a:tcPr>
                </a:tc>
                <a:tc>
                  <a:txBody>
                    <a:bodyPr/>
                    <a:lstStyle/>
                    <a:p>
                      <a:pPr>
                        <a:buNone/>
                      </a:pPr>
                      <a:r>
                        <a:rPr lang="en-US" b="0" dirty="0"/>
                        <a:t>Price stays high 124 JD, confirming premium positioning.</a:t>
                      </a:r>
                    </a:p>
                  </a:txBody>
                  <a:tcPr anchor="ctr">
                    <a:lnL>
                      <a:noFill/>
                    </a:lnL>
                    <a:lnR>
                      <a:noFill/>
                    </a:lnR>
                    <a:lnT>
                      <a:noFill/>
                    </a:lnT>
                    <a:lnB>
                      <a:noFill/>
                    </a:lnB>
                    <a:noFill/>
                  </a:tcPr>
                </a:tc>
                <a:extLst>
                  <a:ext uri="{0D108BD9-81ED-4DB2-BD59-A6C34878D82A}">
                    <a16:rowId xmlns:a16="http://schemas.microsoft.com/office/drawing/2014/main" val="1746634845"/>
                  </a:ext>
                </a:extLst>
              </a:tr>
              <a:tr h="0">
                <a:tc>
                  <a:txBody>
                    <a:bodyPr/>
                    <a:lstStyle/>
                    <a:p>
                      <a:pPr>
                        <a:buNone/>
                      </a:pPr>
                      <a:r>
                        <a:rPr lang="en-US" b="1"/>
                        <a:t>Discount %</a:t>
                      </a:r>
                      <a:endParaRPr lang="en-US"/>
                    </a:p>
                  </a:txBody>
                  <a:tcPr anchor="ctr">
                    <a:lnL>
                      <a:noFill/>
                    </a:lnL>
                    <a:lnR>
                      <a:noFill/>
                    </a:lnR>
                    <a:lnT>
                      <a:noFill/>
                    </a:lnT>
                    <a:lnB>
                      <a:noFill/>
                    </a:lnB>
                    <a:noFill/>
                  </a:tcPr>
                </a:tc>
                <a:tc>
                  <a:txBody>
                    <a:bodyPr/>
                    <a:lstStyle/>
                    <a:p>
                      <a:pPr>
                        <a:buNone/>
                      </a:pPr>
                      <a:r>
                        <a:rPr lang="en-US" b="0"/>
                        <a:t>Discounts spike in Oct–Dec, but do not significantly improve rank.</a:t>
                      </a:r>
                    </a:p>
                  </a:txBody>
                  <a:tcPr anchor="ctr">
                    <a:lnL>
                      <a:noFill/>
                    </a:lnL>
                    <a:lnR>
                      <a:noFill/>
                    </a:lnR>
                    <a:lnT>
                      <a:noFill/>
                    </a:lnT>
                    <a:lnB>
                      <a:noFill/>
                    </a:lnB>
                    <a:noFill/>
                  </a:tcPr>
                </a:tc>
                <a:extLst>
                  <a:ext uri="{0D108BD9-81ED-4DB2-BD59-A6C34878D82A}">
                    <a16:rowId xmlns:a16="http://schemas.microsoft.com/office/drawing/2014/main" val="1829263121"/>
                  </a:ext>
                </a:extLst>
              </a:tr>
              <a:tr h="0">
                <a:tc>
                  <a:txBody>
                    <a:bodyPr/>
                    <a:lstStyle/>
                    <a:p>
                      <a:pPr>
                        <a:buNone/>
                      </a:pPr>
                      <a:r>
                        <a:rPr lang="en-US" b="1" dirty="0"/>
                        <a:t>Total Revenue 248K</a:t>
                      </a:r>
                      <a:endParaRPr lang="en-US" dirty="0"/>
                    </a:p>
                  </a:txBody>
                  <a:tcPr anchor="ctr">
                    <a:lnL>
                      <a:noFill/>
                    </a:lnL>
                    <a:lnR>
                      <a:noFill/>
                    </a:lnR>
                    <a:lnT>
                      <a:noFill/>
                    </a:lnT>
                    <a:lnB>
                      <a:noFill/>
                    </a:lnB>
                    <a:noFill/>
                  </a:tcPr>
                </a:tc>
                <a:tc>
                  <a:txBody>
                    <a:bodyPr/>
                    <a:lstStyle/>
                    <a:p>
                      <a:pPr>
                        <a:buNone/>
                      </a:pPr>
                      <a:r>
                        <a:rPr lang="en-US" b="0" dirty="0"/>
                        <a:t>Strong revenue contribution  important for overall portfolio performance.</a:t>
                      </a:r>
                    </a:p>
                  </a:txBody>
                  <a:tcPr anchor="ctr">
                    <a:lnL>
                      <a:noFill/>
                    </a:lnL>
                    <a:lnR>
                      <a:noFill/>
                    </a:lnR>
                    <a:lnT>
                      <a:noFill/>
                    </a:lnT>
                    <a:lnB>
                      <a:noFill/>
                    </a:lnB>
                    <a:noFill/>
                  </a:tcPr>
                </a:tc>
                <a:extLst>
                  <a:ext uri="{0D108BD9-81ED-4DB2-BD59-A6C34878D82A}">
                    <a16:rowId xmlns:a16="http://schemas.microsoft.com/office/drawing/2014/main" val="1834778485"/>
                  </a:ext>
                </a:extLst>
              </a:tr>
              <a:tr h="0">
                <a:tc>
                  <a:txBody>
                    <a:bodyPr/>
                    <a:lstStyle/>
                    <a:p>
                      <a:pPr>
                        <a:buNone/>
                      </a:pPr>
                      <a:r>
                        <a:rPr lang="en-US" b="1"/>
                        <a:t>Forecast (Rank/Price)</a:t>
                      </a:r>
                      <a:endParaRPr lang="en-US"/>
                    </a:p>
                  </a:txBody>
                  <a:tcPr anchor="ctr">
                    <a:lnL>
                      <a:noFill/>
                    </a:lnL>
                    <a:lnR>
                      <a:noFill/>
                    </a:lnR>
                    <a:lnT>
                      <a:noFill/>
                    </a:lnT>
                    <a:lnB>
                      <a:noFill/>
                    </a:lnB>
                    <a:noFill/>
                  </a:tcPr>
                </a:tc>
                <a:tc>
                  <a:txBody>
                    <a:bodyPr/>
                    <a:lstStyle/>
                    <a:p>
                      <a:pPr>
                        <a:buNone/>
                      </a:pPr>
                      <a:r>
                        <a:rPr lang="en-US" b="0" dirty="0"/>
                        <a:t>Predicts possible decline if no new strategy is applied.</a:t>
                      </a:r>
                    </a:p>
                  </a:txBody>
                  <a:tcPr anchor="ctr">
                    <a:lnL>
                      <a:noFill/>
                    </a:lnL>
                    <a:lnR>
                      <a:noFill/>
                    </a:lnR>
                    <a:lnT>
                      <a:noFill/>
                    </a:lnT>
                    <a:lnB>
                      <a:noFill/>
                    </a:lnB>
                    <a:noFill/>
                  </a:tcPr>
                </a:tc>
                <a:extLst>
                  <a:ext uri="{0D108BD9-81ED-4DB2-BD59-A6C34878D82A}">
                    <a16:rowId xmlns:a16="http://schemas.microsoft.com/office/drawing/2014/main" val="1909799731"/>
                  </a:ext>
                </a:extLst>
              </a:tr>
            </a:tbl>
          </a:graphicData>
        </a:graphic>
      </p:graphicFrame>
    </p:spTree>
    <p:extLst>
      <p:ext uri="{BB962C8B-B14F-4D97-AF65-F5344CB8AC3E}">
        <p14:creationId xmlns:p14="http://schemas.microsoft.com/office/powerpoint/2010/main" val="5279943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6A60-55D4-1EAA-D1FA-3F326AA6C883}"/>
              </a:ext>
            </a:extLst>
          </p:cNvPr>
          <p:cNvSpPr>
            <a:spLocks noGrp="1"/>
          </p:cNvSpPr>
          <p:nvPr>
            <p:ph type="title"/>
          </p:nvPr>
        </p:nvSpPr>
        <p:spPr/>
        <p:txBody>
          <a:bodyPr/>
          <a:lstStyle/>
          <a:p>
            <a:r>
              <a:rPr lang="en-US" dirty="0" err="1"/>
              <a:t>BlackWidow</a:t>
            </a:r>
            <a:r>
              <a:rPr lang="en-US" dirty="0"/>
              <a:t> V4 – Recommendations</a:t>
            </a:r>
          </a:p>
        </p:txBody>
      </p:sp>
      <p:graphicFrame>
        <p:nvGraphicFramePr>
          <p:cNvPr id="6" name="Content Placeholder 5">
            <a:extLst>
              <a:ext uri="{FF2B5EF4-FFF2-40B4-BE49-F238E27FC236}">
                <a16:creationId xmlns:a16="http://schemas.microsoft.com/office/drawing/2014/main" id="{367475F6-33BE-4374-608B-47A0ACC5736A}"/>
              </a:ext>
            </a:extLst>
          </p:cNvPr>
          <p:cNvGraphicFramePr>
            <a:graphicFrameLocks noGrp="1"/>
          </p:cNvGraphicFramePr>
          <p:nvPr>
            <p:ph idx="1"/>
            <p:extLst>
              <p:ext uri="{D42A27DB-BD31-4B8C-83A1-F6EECF244321}">
                <p14:modId xmlns:p14="http://schemas.microsoft.com/office/powerpoint/2010/main" val="3577919937"/>
              </p:ext>
            </p:extLst>
          </p:nvPr>
        </p:nvGraphicFramePr>
        <p:xfrm>
          <a:off x="1551950" y="2052639"/>
          <a:ext cx="8049876" cy="4195760"/>
        </p:xfrm>
        <a:graphic>
          <a:graphicData uri="http://schemas.openxmlformats.org/drawingml/2006/table">
            <a:tbl>
              <a:tblPr/>
              <a:tblGrid>
                <a:gridCol w="4024938">
                  <a:extLst>
                    <a:ext uri="{9D8B030D-6E8A-4147-A177-3AD203B41FA5}">
                      <a16:colId xmlns:a16="http://schemas.microsoft.com/office/drawing/2014/main" val="4169176920"/>
                    </a:ext>
                  </a:extLst>
                </a:gridCol>
                <a:gridCol w="4024938">
                  <a:extLst>
                    <a:ext uri="{9D8B030D-6E8A-4147-A177-3AD203B41FA5}">
                      <a16:colId xmlns:a16="http://schemas.microsoft.com/office/drawing/2014/main" val="1207432438"/>
                    </a:ext>
                  </a:extLst>
                </a:gridCol>
              </a:tblGrid>
              <a:tr h="329079">
                <a:tc>
                  <a:txBody>
                    <a:bodyPr/>
                    <a:lstStyle/>
                    <a:p>
                      <a:pPr>
                        <a:buNone/>
                      </a:pPr>
                      <a:r>
                        <a:rPr lang="en-US" sz="1600" b="1"/>
                        <a:t>Insight</a:t>
                      </a:r>
                      <a:endParaRPr lang="en-US" sz="1600"/>
                    </a:p>
                  </a:txBody>
                  <a:tcPr marL="82270" marR="82270" marT="41135" marB="41135" anchor="ctr">
                    <a:lnL>
                      <a:noFill/>
                    </a:lnL>
                    <a:lnR>
                      <a:noFill/>
                    </a:lnR>
                    <a:lnT>
                      <a:noFill/>
                    </a:lnT>
                    <a:lnB>
                      <a:noFill/>
                    </a:lnB>
                    <a:noFill/>
                  </a:tcPr>
                </a:tc>
                <a:tc>
                  <a:txBody>
                    <a:bodyPr/>
                    <a:lstStyle/>
                    <a:p>
                      <a:pPr>
                        <a:buNone/>
                      </a:pPr>
                      <a:r>
                        <a:rPr lang="en-US" sz="1600" b="1" dirty="0"/>
                        <a:t>Recommendation</a:t>
                      </a:r>
                    </a:p>
                  </a:txBody>
                  <a:tcPr marL="82270" marR="82270" marT="41135" marB="41135" anchor="ctr">
                    <a:lnL>
                      <a:noFill/>
                    </a:lnL>
                    <a:lnR>
                      <a:noFill/>
                    </a:lnR>
                    <a:lnT>
                      <a:noFill/>
                    </a:lnT>
                    <a:lnB>
                      <a:noFill/>
                    </a:lnB>
                    <a:noFill/>
                  </a:tcPr>
                </a:tc>
                <a:extLst>
                  <a:ext uri="{0D108BD9-81ED-4DB2-BD59-A6C34878D82A}">
                    <a16:rowId xmlns:a16="http://schemas.microsoft.com/office/drawing/2014/main" val="2510064609"/>
                  </a:ext>
                </a:extLst>
              </a:tr>
              <a:tr h="575889">
                <a:tc>
                  <a:txBody>
                    <a:bodyPr/>
                    <a:lstStyle/>
                    <a:p>
                      <a:pPr>
                        <a:buNone/>
                      </a:pPr>
                      <a:r>
                        <a:rPr lang="en-US" sz="1600" dirty="0"/>
                        <a:t>High price stability at 124 JD</a:t>
                      </a:r>
                    </a:p>
                  </a:txBody>
                  <a:tcPr marL="82270" marR="82270" marT="41135" marB="41135" anchor="ctr">
                    <a:lnL>
                      <a:noFill/>
                    </a:lnL>
                    <a:lnR>
                      <a:noFill/>
                    </a:lnR>
                    <a:lnT>
                      <a:noFill/>
                    </a:lnT>
                    <a:lnB>
                      <a:noFill/>
                    </a:lnB>
                    <a:noFill/>
                  </a:tcPr>
                </a:tc>
                <a:tc>
                  <a:txBody>
                    <a:bodyPr/>
                    <a:lstStyle/>
                    <a:p>
                      <a:pPr>
                        <a:buNone/>
                      </a:pPr>
                      <a:r>
                        <a:rPr lang="en-US" sz="1600" b="0"/>
                        <a:t>Keep premium pricing; avoid frequent deep discounts.</a:t>
                      </a:r>
                    </a:p>
                  </a:txBody>
                  <a:tcPr marL="82270" marR="82270" marT="41135" marB="41135" anchor="ctr">
                    <a:lnL>
                      <a:noFill/>
                    </a:lnL>
                    <a:lnR>
                      <a:noFill/>
                    </a:lnR>
                    <a:lnT>
                      <a:noFill/>
                    </a:lnT>
                    <a:lnB>
                      <a:noFill/>
                    </a:lnB>
                    <a:noFill/>
                  </a:tcPr>
                </a:tc>
                <a:extLst>
                  <a:ext uri="{0D108BD9-81ED-4DB2-BD59-A6C34878D82A}">
                    <a16:rowId xmlns:a16="http://schemas.microsoft.com/office/drawing/2014/main" val="1125794302"/>
                  </a:ext>
                </a:extLst>
              </a:tr>
              <a:tr h="822698">
                <a:tc>
                  <a:txBody>
                    <a:bodyPr/>
                    <a:lstStyle/>
                    <a:p>
                      <a:pPr>
                        <a:buNone/>
                      </a:pPr>
                      <a:r>
                        <a:rPr lang="en-US" sz="1600"/>
                        <a:t>Discounts in Oct–Dec don’t improve rank</a:t>
                      </a:r>
                    </a:p>
                  </a:txBody>
                  <a:tcPr marL="82270" marR="82270" marT="41135" marB="41135" anchor="ctr">
                    <a:lnL>
                      <a:noFill/>
                    </a:lnL>
                    <a:lnR>
                      <a:noFill/>
                    </a:lnR>
                    <a:lnT>
                      <a:noFill/>
                    </a:lnT>
                    <a:lnB>
                      <a:noFill/>
                    </a:lnB>
                    <a:noFill/>
                  </a:tcPr>
                </a:tc>
                <a:tc>
                  <a:txBody>
                    <a:bodyPr/>
                    <a:lstStyle/>
                    <a:p>
                      <a:pPr>
                        <a:buNone/>
                      </a:pPr>
                      <a:r>
                        <a:rPr lang="en-US" sz="1600" b="0"/>
                        <a:t>Use value-added bundles (keyboard + accessories) instead of heavy discounts.</a:t>
                      </a:r>
                    </a:p>
                  </a:txBody>
                  <a:tcPr marL="82270" marR="82270" marT="41135" marB="41135" anchor="ctr">
                    <a:lnL>
                      <a:noFill/>
                    </a:lnL>
                    <a:lnR>
                      <a:noFill/>
                    </a:lnR>
                    <a:lnT>
                      <a:noFill/>
                    </a:lnT>
                    <a:lnB>
                      <a:noFill/>
                    </a:lnB>
                    <a:noFill/>
                  </a:tcPr>
                </a:tc>
                <a:extLst>
                  <a:ext uri="{0D108BD9-81ED-4DB2-BD59-A6C34878D82A}">
                    <a16:rowId xmlns:a16="http://schemas.microsoft.com/office/drawing/2014/main" val="1519937663"/>
                  </a:ext>
                </a:extLst>
              </a:tr>
              <a:tr h="822698">
                <a:tc>
                  <a:txBody>
                    <a:bodyPr/>
                    <a:lstStyle/>
                    <a:p>
                      <a:pPr>
                        <a:buNone/>
                      </a:pPr>
                      <a:r>
                        <a:rPr lang="en-US" sz="1600"/>
                        <a:t>Rank weakens in Q3–Q4</a:t>
                      </a:r>
                    </a:p>
                  </a:txBody>
                  <a:tcPr marL="82270" marR="82270" marT="41135" marB="41135" anchor="ctr">
                    <a:lnL>
                      <a:noFill/>
                    </a:lnL>
                    <a:lnR>
                      <a:noFill/>
                    </a:lnR>
                    <a:lnT>
                      <a:noFill/>
                    </a:lnT>
                    <a:lnB>
                      <a:noFill/>
                    </a:lnB>
                    <a:noFill/>
                  </a:tcPr>
                </a:tc>
                <a:tc>
                  <a:txBody>
                    <a:bodyPr/>
                    <a:lstStyle/>
                    <a:p>
                      <a:pPr>
                        <a:buNone/>
                      </a:pPr>
                      <a:r>
                        <a:rPr lang="en-US" sz="1600" b="0"/>
                        <a:t>Run event-based promotions (holidays, gaming launches) to boost demand.</a:t>
                      </a:r>
                    </a:p>
                  </a:txBody>
                  <a:tcPr marL="82270" marR="82270" marT="41135" marB="41135" anchor="ctr">
                    <a:lnL>
                      <a:noFill/>
                    </a:lnL>
                    <a:lnR>
                      <a:noFill/>
                    </a:lnR>
                    <a:lnT>
                      <a:noFill/>
                    </a:lnT>
                    <a:lnB>
                      <a:noFill/>
                    </a:lnB>
                    <a:noFill/>
                  </a:tcPr>
                </a:tc>
                <a:extLst>
                  <a:ext uri="{0D108BD9-81ED-4DB2-BD59-A6C34878D82A}">
                    <a16:rowId xmlns:a16="http://schemas.microsoft.com/office/drawing/2014/main" val="2302073242"/>
                  </a:ext>
                </a:extLst>
              </a:tr>
              <a:tr h="822698">
                <a:tc>
                  <a:txBody>
                    <a:bodyPr/>
                    <a:lstStyle/>
                    <a:p>
                      <a:pPr>
                        <a:buNone/>
                      </a:pPr>
                      <a:r>
                        <a:rPr lang="en-US" sz="1600" dirty="0"/>
                        <a:t>Strong revenue 248K JD</a:t>
                      </a:r>
                    </a:p>
                  </a:txBody>
                  <a:tcPr marL="82270" marR="82270" marT="41135" marB="41135" anchor="ctr">
                    <a:lnL>
                      <a:noFill/>
                    </a:lnL>
                    <a:lnR>
                      <a:noFill/>
                    </a:lnR>
                    <a:lnT>
                      <a:noFill/>
                    </a:lnT>
                    <a:lnB>
                      <a:noFill/>
                    </a:lnB>
                    <a:noFill/>
                  </a:tcPr>
                </a:tc>
                <a:tc>
                  <a:txBody>
                    <a:bodyPr/>
                    <a:lstStyle/>
                    <a:p>
                      <a:pPr>
                        <a:buNone/>
                      </a:pPr>
                      <a:r>
                        <a:rPr lang="en-US" sz="1600" b="0" dirty="0"/>
                        <a:t>Protect margins by maintaining premium image while sustaining sales volume.</a:t>
                      </a:r>
                    </a:p>
                  </a:txBody>
                  <a:tcPr marL="82270" marR="82270" marT="41135" marB="41135" anchor="ctr">
                    <a:lnL>
                      <a:noFill/>
                    </a:lnL>
                    <a:lnR>
                      <a:noFill/>
                    </a:lnR>
                    <a:lnT>
                      <a:noFill/>
                    </a:lnT>
                    <a:lnB>
                      <a:noFill/>
                    </a:lnB>
                    <a:noFill/>
                  </a:tcPr>
                </a:tc>
                <a:extLst>
                  <a:ext uri="{0D108BD9-81ED-4DB2-BD59-A6C34878D82A}">
                    <a16:rowId xmlns:a16="http://schemas.microsoft.com/office/drawing/2014/main" val="2878151682"/>
                  </a:ext>
                </a:extLst>
              </a:tr>
              <a:tr h="822698">
                <a:tc>
                  <a:txBody>
                    <a:bodyPr/>
                    <a:lstStyle/>
                    <a:p>
                      <a:pPr>
                        <a:buNone/>
                      </a:pPr>
                      <a:r>
                        <a:rPr lang="en-US" sz="1600"/>
                        <a:t>Forecast shows possible decline</a:t>
                      </a:r>
                    </a:p>
                  </a:txBody>
                  <a:tcPr marL="82270" marR="82270" marT="41135" marB="41135" anchor="ctr">
                    <a:lnL>
                      <a:noFill/>
                    </a:lnL>
                    <a:lnR>
                      <a:noFill/>
                    </a:lnR>
                    <a:lnT>
                      <a:noFill/>
                    </a:lnT>
                    <a:lnB>
                      <a:noFill/>
                    </a:lnB>
                    <a:noFill/>
                  </a:tcPr>
                </a:tc>
                <a:tc>
                  <a:txBody>
                    <a:bodyPr/>
                    <a:lstStyle/>
                    <a:p>
                      <a:pPr>
                        <a:buNone/>
                      </a:pPr>
                      <a:r>
                        <a:rPr lang="en-US" sz="1600" b="0" dirty="0"/>
                        <a:t>Align inventory with forecast to prevent overstock during weaker demand.</a:t>
                      </a:r>
                    </a:p>
                  </a:txBody>
                  <a:tcPr marL="82270" marR="82270" marT="41135" marB="41135" anchor="ctr">
                    <a:lnL>
                      <a:noFill/>
                    </a:lnL>
                    <a:lnR>
                      <a:noFill/>
                    </a:lnR>
                    <a:lnT>
                      <a:noFill/>
                    </a:lnT>
                    <a:lnB>
                      <a:noFill/>
                    </a:lnB>
                    <a:noFill/>
                  </a:tcPr>
                </a:tc>
                <a:extLst>
                  <a:ext uri="{0D108BD9-81ED-4DB2-BD59-A6C34878D82A}">
                    <a16:rowId xmlns:a16="http://schemas.microsoft.com/office/drawing/2014/main" val="2020195676"/>
                  </a:ext>
                </a:extLst>
              </a:tr>
            </a:tbl>
          </a:graphicData>
        </a:graphic>
      </p:graphicFrame>
    </p:spTree>
    <p:extLst>
      <p:ext uri="{BB962C8B-B14F-4D97-AF65-F5344CB8AC3E}">
        <p14:creationId xmlns:p14="http://schemas.microsoft.com/office/powerpoint/2010/main" val="22862217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98B6D-3C84-D4B1-6BB5-B49F36903097}"/>
              </a:ext>
            </a:extLst>
          </p:cNvPr>
          <p:cNvSpPr>
            <a:spLocks noGrp="1"/>
          </p:cNvSpPr>
          <p:nvPr>
            <p:ph type="title"/>
          </p:nvPr>
        </p:nvSpPr>
        <p:spPr/>
        <p:txBody>
          <a:bodyPr/>
          <a:lstStyle/>
          <a:p>
            <a:r>
              <a:rPr lang="en-US" dirty="0"/>
              <a:t>Huntsman Mini - dashboard</a:t>
            </a:r>
          </a:p>
        </p:txBody>
      </p:sp>
      <p:pic>
        <p:nvPicPr>
          <p:cNvPr id="8" name="Content Placeholder 7">
            <a:extLst>
              <a:ext uri="{FF2B5EF4-FFF2-40B4-BE49-F238E27FC236}">
                <a16:creationId xmlns:a16="http://schemas.microsoft.com/office/drawing/2014/main" id="{33A090D1-D811-C44D-DC0A-5ECF0CF0AD29}"/>
              </a:ext>
            </a:extLst>
          </p:cNvPr>
          <p:cNvPicPr>
            <a:picLocks noGrp="1" noChangeAspect="1"/>
          </p:cNvPicPr>
          <p:nvPr>
            <p:ph idx="1"/>
          </p:nvPr>
        </p:nvPicPr>
        <p:blipFill>
          <a:blip r:embed="rId2"/>
          <a:stretch>
            <a:fillRect/>
          </a:stretch>
        </p:blipFill>
        <p:spPr>
          <a:xfrm>
            <a:off x="1842344" y="2052638"/>
            <a:ext cx="7469088" cy="4195762"/>
          </a:xfrm>
          <a:prstGeom prst="rect">
            <a:avLst/>
          </a:prstGeom>
        </p:spPr>
      </p:pic>
    </p:spTree>
    <p:extLst>
      <p:ext uri="{BB962C8B-B14F-4D97-AF65-F5344CB8AC3E}">
        <p14:creationId xmlns:p14="http://schemas.microsoft.com/office/powerpoint/2010/main" val="1301346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88DCE-8AF4-E365-89CA-0F35A0A955FA}"/>
              </a:ext>
            </a:extLst>
          </p:cNvPr>
          <p:cNvSpPr>
            <a:spLocks noGrp="1"/>
          </p:cNvSpPr>
          <p:nvPr>
            <p:ph type="title"/>
          </p:nvPr>
        </p:nvSpPr>
        <p:spPr/>
        <p:txBody>
          <a:bodyPr/>
          <a:lstStyle/>
          <a:p>
            <a:r>
              <a:rPr lang="en-US" dirty="0"/>
              <a:t>Huntsman Mini – dashboard analysis</a:t>
            </a:r>
          </a:p>
        </p:txBody>
      </p:sp>
      <p:graphicFrame>
        <p:nvGraphicFramePr>
          <p:cNvPr id="4" name="Content Placeholder 3">
            <a:extLst>
              <a:ext uri="{FF2B5EF4-FFF2-40B4-BE49-F238E27FC236}">
                <a16:creationId xmlns:a16="http://schemas.microsoft.com/office/drawing/2014/main" id="{03264AFD-F2D0-967C-8EFF-DFDFC2C2CAE3}"/>
              </a:ext>
            </a:extLst>
          </p:cNvPr>
          <p:cNvGraphicFramePr>
            <a:graphicFrameLocks noGrp="1"/>
          </p:cNvGraphicFramePr>
          <p:nvPr>
            <p:ph idx="1"/>
            <p:extLst>
              <p:ext uri="{D42A27DB-BD31-4B8C-83A1-F6EECF244321}">
                <p14:modId xmlns:p14="http://schemas.microsoft.com/office/powerpoint/2010/main" val="3393468412"/>
              </p:ext>
            </p:extLst>
          </p:nvPr>
        </p:nvGraphicFramePr>
        <p:xfrm>
          <a:off x="1103313" y="2230279"/>
          <a:ext cx="8947150" cy="4114800"/>
        </p:xfrm>
        <a:graphic>
          <a:graphicData uri="http://schemas.openxmlformats.org/drawingml/2006/table">
            <a:tbl>
              <a:tblPr/>
              <a:tblGrid>
                <a:gridCol w="4473575">
                  <a:extLst>
                    <a:ext uri="{9D8B030D-6E8A-4147-A177-3AD203B41FA5}">
                      <a16:colId xmlns:a16="http://schemas.microsoft.com/office/drawing/2014/main" val="3025302637"/>
                    </a:ext>
                  </a:extLst>
                </a:gridCol>
                <a:gridCol w="4473575">
                  <a:extLst>
                    <a:ext uri="{9D8B030D-6E8A-4147-A177-3AD203B41FA5}">
                      <a16:colId xmlns:a16="http://schemas.microsoft.com/office/drawing/2014/main" val="38024965"/>
                    </a:ext>
                  </a:extLst>
                </a:gridCol>
              </a:tblGrid>
              <a:tr h="0">
                <a:tc>
                  <a:txBody>
                    <a:bodyPr/>
                    <a:lstStyle/>
                    <a:p>
                      <a:pPr>
                        <a:buNone/>
                      </a:pPr>
                      <a:r>
                        <a:rPr lang="en-US" b="1" dirty="0"/>
                        <a:t>Chart / KPI</a:t>
                      </a:r>
                      <a:endParaRPr lang="en-US" dirty="0"/>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US" b="1" dirty="0"/>
                        <a:t>Analysis</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446271091"/>
                  </a:ext>
                </a:extLst>
              </a:tr>
              <a:tr h="0">
                <a:tc>
                  <a:txBody>
                    <a:bodyPr/>
                    <a:lstStyle/>
                    <a:p>
                      <a:pPr>
                        <a:buNone/>
                      </a:pPr>
                      <a:r>
                        <a:rPr lang="en-US" b="1" dirty="0"/>
                        <a:t>Sales Rank Trend</a:t>
                      </a:r>
                      <a:endParaRPr lang="en-US" dirty="0"/>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US" b="0"/>
                        <a:t>Rank improves significantly during Q1 and Q4, when discounts are applied.</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963458065"/>
                  </a:ext>
                </a:extLst>
              </a:tr>
              <a:tr h="0">
                <a:tc>
                  <a:txBody>
                    <a:bodyPr/>
                    <a:lstStyle/>
                    <a:p>
                      <a:pPr>
                        <a:buNone/>
                      </a:pPr>
                      <a:r>
                        <a:rPr lang="en-US" b="1"/>
                        <a:t>Average New Price</a:t>
                      </a:r>
                      <a:endParaRPr lang="en-US"/>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US" b="0" dirty="0"/>
                        <a:t>Lower average price 78.9 JD, making it the mid-tier.</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851256912"/>
                  </a:ext>
                </a:extLst>
              </a:tr>
              <a:tr h="0">
                <a:tc>
                  <a:txBody>
                    <a:bodyPr/>
                    <a:lstStyle/>
                    <a:p>
                      <a:pPr>
                        <a:buNone/>
                      </a:pPr>
                      <a:r>
                        <a:rPr lang="en-US" b="1"/>
                        <a:t>Discount %</a:t>
                      </a:r>
                      <a:endParaRPr lang="en-US"/>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US" b="0" dirty="0"/>
                        <a:t>Consistently higher discounts compared to other products, which drive rank gains.</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338668283"/>
                  </a:ext>
                </a:extLst>
              </a:tr>
              <a:tr h="0">
                <a:tc>
                  <a:txBody>
                    <a:bodyPr/>
                    <a:lstStyle/>
                    <a:p>
                      <a:pPr>
                        <a:buNone/>
                      </a:pPr>
                      <a:r>
                        <a:rPr lang="en-US" b="1" dirty="0"/>
                        <a:t>Total Revenue 260K</a:t>
                      </a:r>
                      <a:endParaRPr lang="en-US" dirty="0"/>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US" b="0" dirty="0"/>
                        <a:t>Highest total revenue among the three products, mean strong sales volume.</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37625820"/>
                  </a:ext>
                </a:extLst>
              </a:tr>
              <a:tr h="0">
                <a:tc>
                  <a:txBody>
                    <a:bodyPr/>
                    <a:lstStyle/>
                    <a:p>
                      <a:pPr>
                        <a:buNone/>
                      </a:pPr>
                      <a:r>
                        <a:rPr lang="en-US" b="1"/>
                        <a:t>Forecast (Rank/Price)</a:t>
                      </a:r>
                      <a:endParaRPr lang="en-US"/>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US" b="0" dirty="0"/>
                        <a:t>Forecast suggests stable performance, with steady demand.</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03961731"/>
                  </a:ext>
                </a:extLst>
              </a:tr>
            </a:tbl>
          </a:graphicData>
        </a:graphic>
      </p:graphicFrame>
    </p:spTree>
    <p:extLst>
      <p:ext uri="{BB962C8B-B14F-4D97-AF65-F5344CB8AC3E}">
        <p14:creationId xmlns:p14="http://schemas.microsoft.com/office/powerpoint/2010/main" val="27152756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5F2A-2C1B-46E4-2970-12C30C8CD307}"/>
              </a:ext>
            </a:extLst>
          </p:cNvPr>
          <p:cNvSpPr>
            <a:spLocks noGrp="1"/>
          </p:cNvSpPr>
          <p:nvPr>
            <p:ph type="title"/>
          </p:nvPr>
        </p:nvSpPr>
        <p:spPr/>
        <p:txBody>
          <a:bodyPr/>
          <a:lstStyle/>
          <a:p>
            <a:r>
              <a:rPr lang="en-US" dirty="0"/>
              <a:t>Huntsman Mini – Recommendations</a:t>
            </a:r>
          </a:p>
        </p:txBody>
      </p:sp>
      <p:graphicFrame>
        <p:nvGraphicFramePr>
          <p:cNvPr id="4" name="Content Placeholder 3">
            <a:extLst>
              <a:ext uri="{FF2B5EF4-FFF2-40B4-BE49-F238E27FC236}">
                <a16:creationId xmlns:a16="http://schemas.microsoft.com/office/drawing/2014/main" id="{DA4785F5-51E6-A41C-C5CE-4E51024DD328}"/>
              </a:ext>
            </a:extLst>
          </p:cNvPr>
          <p:cNvGraphicFramePr>
            <a:graphicFrameLocks noGrp="1"/>
          </p:cNvGraphicFramePr>
          <p:nvPr>
            <p:ph idx="1"/>
            <p:extLst>
              <p:ext uri="{D42A27DB-BD31-4B8C-83A1-F6EECF244321}">
                <p14:modId xmlns:p14="http://schemas.microsoft.com/office/powerpoint/2010/main" val="89964293"/>
              </p:ext>
            </p:extLst>
          </p:nvPr>
        </p:nvGraphicFramePr>
        <p:xfrm>
          <a:off x="1103313" y="2093119"/>
          <a:ext cx="8947150" cy="4114800"/>
        </p:xfrm>
        <a:graphic>
          <a:graphicData uri="http://schemas.openxmlformats.org/drawingml/2006/table">
            <a:tbl>
              <a:tblPr/>
              <a:tblGrid>
                <a:gridCol w="4473575">
                  <a:extLst>
                    <a:ext uri="{9D8B030D-6E8A-4147-A177-3AD203B41FA5}">
                      <a16:colId xmlns:a16="http://schemas.microsoft.com/office/drawing/2014/main" val="4130938268"/>
                    </a:ext>
                  </a:extLst>
                </a:gridCol>
                <a:gridCol w="4473575">
                  <a:extLst>
                    <a:ext uri="{9D8B030D-6E8A-4147-A177-3AD203B41FA5}">
                      <a16:colId xmlns:a16="http://schemas.microsoft.com/office/drawing/2014/main" val="3537836753"/>
                    </a:ext>
                  </a:extLst>
                </a:gridCol>
              </a:tblGrid>
              <a:tr h="0">
                <a:tc>
                  <a:txBody>
                    <a:bodyPr/>
                    <a:lstStyle/>
                    <a:p>
                      <a:pPr>
                        <a:buNone/>
                      </a:pPr>
                      <a:r>
                        <a:rPr lang="en-US" b="1"/>
                        <a:t>Insight</a:t>
                      </a:r>
                      <a:endParaRPr lang="en-US"/>
                    </a:p>
                  </a:txBody>
                  <a:tcPr anchor="ctr">
                    <a:lnL>
                      <a:noFill/>
                    </a:lnL>
                    <a:lnR>
                      <a:noFill/>
                    </a:lnR>
                    <a:lnT>
                      <a:noFill/>
                    </a:lnT>
                    <a:lnB>
                      <a:noFill/>
                    </a:lnB>
                    <a:noFill/>
                  </a:tcPr>
                </a:tc>
                <a:tc>
                  <a:txBody>
                    <a:bodyPr/>
                    <a:lstStyle/>
                    <a:p>
                      <a:pPr>
                        <a:buNone/>
                      </a:pPr>
                      <a:r>
                        <a:rPr lang="en-US" b="1" dirty="0"/>
                        <a:t>Recommendation</a:t>
                      </a:r>
                    </a:p>
                  </a:txBody>
                  <a:tcPr anchor="ctr">
                    <a:lnL>
                      <a:noFill/>
                    </a:lnL>
                    <a:lnR>
                      <a:noFill/>
                    </a:lnR>
                    <a:lnT>
                      <a:noFill/>
                    </a:lnT>
                    <a:lnB>
                      <a:noFill/>
                    </a:lnB>
                    <a:noFill/>
                  </a:tcPr>
                </a:tc>
                <a:extLst>
                  <a:ext uri="{0D108BD9-81ED-4DB2-BD59-A6C34878D82A}">
                    <a16:rowId xmlns:a16="http://schemas.microsoft.com/office/drawing/2014/main" val="3081628507"/>
                  </a:ext>
                </a:extLst>
              </a:tr>
              <a:tr h="0">
                <a:tc>
                  <a:txBody>
                    <a:bodyPr/>
                    <a:lstStyle/>
                    <a:p>
                      <a:pPr>
                        <a:buNone/>
                      </a:pPr>
                      <a:r>
                        <a:rPr lang="en-US" dirty="0"/>
                        <a:t>Rank improves during Q1 &amp; Q4 with promos</a:t>
                      </a:r>
                    </a:p>
                  </a:txBody>
                  <a:tcPr anchor="ctr">
                    <a:lnL>
                      <a:noFill/>
                    </a:lnL>
                    <a:lnR>
                      <a:noFill/>
                    </a:lnR>
                    <a:lnT>
                      <a:noFill/>
                    </a:lnT>
                    <a:lnB>
                      <a:noFill/>
                    </a:lnB>
                    <a:noFill/>
                  </a:tcPr>
                </a:tc>
                <a:tc>
                  <a:txBody>
                    <a:bodyPr/>
                    <a:lstStyle/>
                    <a:p>
                      <a:pPr>
                        <a:buNone/>
                      </a:pPr>
                      <a:r>
                        <a:rPr lang="en-US" b="0" dirty="0"/>
                        <a:t>Continue 10–15% discounts in these periods, scale back in off-peak months.</a:t>
                      </a:r>
                    </a:p>
                  </a:txBody>
                  <a:tcPr anchor="ctr">
                    <a:lnL>
                      <a:noFill/>
                    </a:lnL>
                    <a:lnR>
                      <a:noFill/>
                    </a:lnR>
                    <a:lnT>
                      <a:noFill/>
                    </a:lnT>
                    <a:lnB>
                      <a:noFill/>
                    </a:lnB>
                    <a:noFill/>
                  </a:tcPr>
                </a:tc>
                <a:extLst>
                  <a:ext uri="{0D108BD9-81ED-4DB2-BD59-A6C34878D82A}">
                    <a16:rowId xmlns:a16="http://schemas.microsoft.com/office/drawing/2014/main" val="3119343187"/>
                  </a:ext>
                </a:extLst>
              </a:tr>
              <a:tr h="0">
                <a:tc>
                  <a:txBody>
                    <a:bodyPr/>
                    <a:lstStyle/>
                    <a:p>
                      <a:pPr>
                        <a:buNone/>
                      </a:pPr>
                      <a:r>
                        <a:rPr lang="en-US" dirty="0"/>
                        <a:t>Lower avg price 78.9 JD</a:t>
                      </a:r>
                    </a:p>
                  </a:txBody>
                  <a:tcPr anchor="ctr">
                    <a:lnL>
                      <a:noFill/>
                    </a:lnL>
                    <a:lnR>
                      <a:noFill/>
                    </a:lnR>
                    <a:lnT>
                      <a:noFill/>
                    </a:lnT>
                    <a:lnB>
                      <a:noFill/>
                    </a:lnB>
                    <a:noFill/>
                  </a:tcPr>
                </a:tc>
                <a:tc>
                  <a:txBody>
                    <a:bodyPr/>
                    <a:lstStyle/>
                    <a:p>
                      <a:pPr>
                        <a:buNone/>
                      </a:pPr>
                      <a:r>
                        <a:rPr lang="en-US" b="0"/>
                        <a:t>Add bundles/upsells (keycaps, wrist rests) to raise average order value.</a:t>
                      </a:r>
                    </a:p>
                  </a:txBody>
                  <a:tcPr anchor="ctr">
                    <a:lnL>
                      <a:noFill/>
                    </a:lnL>
                    <a:lnR>
                      <a:noFill/>
                    </a:lnR>
                    <a:lnT>
                      <a:noFill/>
                    </a:lnT>
                    <a:lnB>
                      <a:noFill/>
                    </a:lnB>
                    <a:noFill/>
                  </a:tcPr>
                </a:tc>
                <a:extLst>
                  <a:ext uri="{0D108BD9-81ED-4DB2-BD59-A6C34878D82A}">
                    <a16:rowId xmlns:a16="http://schemas.microsoft.com/office/drawing/2014/main" val="2260606213"/>
                  </a:ext>
                </a:extLst>
              </a:tr>
              <a:tr h="0">
                <a:tc>
                  <a:txBody>
                    <a:bodyPr/>
                    <a:lstStyle/>
                    <a:p>
                      <a:pPr>
                        <a:buNone/>
                      </a:pPr>
                      <a:r>
                        <a:rPr lang="en-US"/>
                        <a:t>Heavy reliance on discounts</a:t>
                      </a:r>
                    </a:p>
                  </a:txBody>
                  <a:tcPr anchor="ctr">
                    <a:lnL>
                      <a:noFill/>
                    </a:lnL>
                    <a:lnR>
                      <a:noFill/>
                    </a:lnR>
                    <a:lnT>
                      <a:noFill/>
                    </a:lnT>
                    <a:lnB>
                      <a:noFill/>
                    </a:lnB>
                    <a:noFill/>
                  </a:tcPr>
                </a:tc>
                <a:tc>
                  <a:txBody>
                    <a:bodyPr/>
                    <a:lstStyle/>
                    <a:p>
                      <a:pPr>
                        <a:buNone/>
                      </a:pPr>
                      <a:r>
                        <a:rPr lang="en-US" b="0" dirty="0"/>
                        <a:t>Reduce frequency of discounts to protect margin, focus on targeted campaigns.</a:t>
                      </a:r>
                    </a:p>
                  </a:txBody>
                  <a:tcPr anchor="ctr">
                    <a:lnL>
                      <a:noFill/>
                    </a:lnL>
                    <a:lnR>
                      <a:noFill/>
                    </a:lnR>
                    <a:lnT>
                      <a:noFill/>
                    </a:lnT>
                    <a:lnB>
                      <a:noFill/>
                    </a:lnB>
                    <a:noFill/>
                  </a:tcPr>
                </a:tc>
                <a:extLst>
                  <a:ext uri="{0D108BD9-81ED-4DB2-BD59-A6C34878D82A}">
                    <a16:rowId xmlns:a16="http://schemas.microsoft.com/office/drawing/2014/main" val="757913591"/>
                  </a:ext>
                </a:extLst>
              </a:tr>
              <a:tr h="0">
                <a:tc>
                  <a:txBody>
                    <a:bodyPr/>
                    <a:lstStyle/>
                    <a:p>
                      <a:pPr>
                        <a:buNone/>
                      </a:pPr>
                      <a:r>
                        <a:rPr lang="en-US" dirty="0"/>
                        <a:t>Highest revenue 260K JD</a:t>
                      </a:r>
                    </a:p>
                  </a:txBody>
                  <a:tcPr anchor="ctr">
                    <a:lnL>
                      <a:noFill/>
                    </a:lnL>
                    <a:lnR>
                      <a:noFill/>
                    </a:lnR>
                    <a:lnT>
                      <a:noFill/>
                    </a:lnT>
                    <a:lnB>
                      <a:noFill/>
                    </a:lnB>
                    <a:noFill/>
                  </a:tcPr>
                </a:tc>
                <a:tc>
                  <a:txBody>
                    <a:bodyPr/>
                    <a:lstStyle/>
                    <a:p>
                      <a:pPr>
                        <a:buNone/>
                      </a:pPr>
                      <a:r>
                        <a:rPr lang="en-US" b="0"/>
                        <a:t>Maintain Huntsman as the volume growth driver in the product portfolio.</a:t>
                      </a:r>
                    </a:p>
                  </a:txBody>
                  <a:tcPr anchor="ctr">
                    <a:lnL>
                      <a:noFill/>
                    </a:lnL>
                    <a:lnR>
                      <a:noFill/>
                    </a:lnR>
                    <a:lnT>
                      <a:noFill/>
                    </a:lnT>
                    <a:lnB>
                      <a:noFill/>
                    </a:lnB>
                    <a:noFill/>
                  </a:tcPr>
                </a:tc>
                <a:extLst>
                  <a:ext uri="{0D108BD9-81ED-4DB2-BD59-A6C34878D82A}">
                    <a16:rowId xmlns:a16="http://schemas.microsoft.com/office/drawing/2014/main" val="214655036"/>
                  </a:ext>
                </a:extLst>
              </a:tr>
              <a:tr h="0">
                <a:tc>
                  <a:txBody>
                    <a:bodyPr/>
                    <a:lstStyle/>
                    <a:p>
                      <a:pPr>
                        <a:buNone/>
                      </a:pPr>
                      <a:r>
                        <a:rPr lang="en-US"/>
                        <a:t>Stable forecast</a:t>
                      </a:r>
                    </a:p>
                  </a:txBody>
                  <a:tcPr anchor="ctr">
                    <a:lnL>
                      <a:noFill/>
                    </a:lnL>
                    <a:lnR>
                      <a:noFill/>
                    </a:lnR>
                    <a:lnT>
                      <a:noFill/>
                    </a:lnT>
                    <a:lnB>
                      <a:noFill/>
                    </a:lnB>
                    <a:noFill/>
                  </a:tcPr>
                </a:tc>
                <a:tc>
                  <a:txBody>
                    <a:bodyPr/>
                    <a:lstStyle/>
                    <a:p>
                      <a:pPr>
                        <a:buNone/>
                      </a:pPr>
                      <a:r>
                        <a:rPr lang="en-US" b="0" dirty="0"/>
                        <a:t>Use forecast to plan inventory ramp-ups before peak quarters.</a:t>
                      </a:r>
                    </a:p>
                  </a:txBody>
                  <a:tcPr anchor="ctr">
                    <a:lnL>
                      <a:noFill/>
                    </a:lnL>
                    <a:lnR>
                      <a:noFill/>
                    </a:lnR>
                    <a:lnT>
                      <a:noFill/>
                    </a:lnT>
                    <a:lnB>
                      <a:noFill/>
                    </a:lnB>
                    <a:noFill/>
                  </a:tcPr>
                </a:tc>
                <a:extLst>
                  <a:ext uri="{0D108BD9-81ED-4DB2-BD59-A6C34878D82A}">
                    <a16:rowId xmlns:a16="http://schemas.microsoft.com/office/drawing/2014/main" val="3036198940"/>
                  </a:ext>
                </a:extLst>
              </a:tr>
            </a:tbl>
          </a:graphicData>
        </a:graphic>
      </p:graphicFrame>
    </p:spTree>
    <p:extLst>
      <p:ext uri="{BB962C8B-B14F-4D97-AF65-F5344CB8AC3E}">
        <p14:creationId xmlns:p14="http://schemas.microsoft.com/office/powerpoint/2010/main" val="12497829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98FED-4EE2-164D-75C5-01EBF42CF303}"/>
              </a:ext>
            </a:extLst>
          </p:cNvPr>
          <p:cNvSpPr>
            <a:spLocks noGrp="1"/>
          </p:cNvSpPr>
          <p:nvPr>
            <p:ph type="title"/>
          </p:nvPr>
        </p:nvSpPr>
        <p:spPr/>
        <p:txBody>
          <a:bodyPr/>
          <a:lstStyle/>
          <a:p>
            <a:r>
              <a:rPr lang="en-US" dirty="0"/>
              <a:t>Ornata V3 – dashboard</a:t>
            </a:r>
          </a:p>
        </p:txBody>
      </p:sp>
      <p:pic>
        <p:nvPicPr>
          <p:cNvPr id="9" name="Content Placeholder 8">
            <a:extLst>
              <a:ext uri="{FF2B5EF4-FFF2-40B4-BE49-F238E27FC236}">
                <a16:creationId xmlns:a16="http://schemas.microsoft.com/office/drawing/2014/main" id="{B25AADD1-292D-8DB6-2709-FF5010B14466}"/>
              </a:ext>
            </a:extLst>
          </p:cNvPr>
          <p:cNvPicPr>
            <a:picLocks noGrp="1" noChangeAspect="1"/>
          </p:cNvPicPr>
          <p:nvPr>
            <p:ph idx="1"/>
          </p:nvPr>
        </p:nvPicPr>
        <p:blipFill>
          <a:blip r:embed="rId2"/>
          <a:stretch>
            <a:fillRect/>
          </a:stretch>
        </p:blipFill>
        <p:spPr>
          <a:xfrm>
            <a:off x="1849662" y="2052638"/>
            <a:ext cx="7454452" cy="4195762"/>
          </a:xfrm>
          <a:prstGeom prst="rect">
            <a:avLst/>
          </a:prstGeom>
        </p:spPr>
      </p:pic>
    </p:spTree>
    <p:extLst>
      <p:ext uri="{BB962C8B-B14F-4D97-AF65-F5344CB8AC3E}">
        <p14:creationId xmlns:p14="http://schemas.microsoft.com/office/powerpoint/2010/main" val="15970255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A4666-130D-991F-6F18-45C5FCF12976}"/>
              </a:ext>
            </a:extLst>
          </p:cNvPr>
          <p:cNvSpPr>
            <a:spLocks noGrp="1"/>
          </p:cNvSpPr>
          <p:nvPr>
            <p:ph type="title"/>
          </p:nvPr>
        </p:nvSpPr>
        <p:spPr/>
        <p:txBody>
          <a:bodyPr/>
          <a:lstStyle/>
          <a:p>
            <a:r>
              <a:rPr lang="en-US" dirty="0"/>
              <a:t>Ornata V3 – dashboard analysis</a:t>
            </a:r>
          </a:p>
        </p:txBody>
      </p:sp>
      <p:graphicFrame>
        <p:nvGraphicFramePr>
          <p:cNvPr id="4" name="Content Placeholder 3">
            <a:extLst>
              <a:ext uri="{FF2B5EF4-FFF2-40B4-BE49-F238E27FC236}">
                <a16:creationId xmlns:a16="http://schemas.microsoft.com/office/drawing/2014/main" id="{F90798CD-A967-6FE0-EA8E-16BFAFE2CFEB}"/>
              </a:ext>
            </a:extLst>
          </p:cNvPr>
          <p:cNvGraphicFramePr>
            <a:graphicFrameLocks noGrp="1"/>
          </p:cNvGraphicFramePr>
          <p:nvPr>
            <p:ph idx="1"/>
            <p:extLst>
              <p:ext uri="{D42A27DB-BD31-4B8C-83A1-F6EECF244321}">
                <p14:modId xmlns:p14="http://schemas.microsoft.com/office/powerpoint/2010/main" val="1910641737"/>
              </p:ext>
            </p:extLst>
          </p:nvPr>
        </p:nvGraphicFramePr>
        <p:xfrm>
          <a:off x="1300392" y="2052638"/>
          <a:ext cx="8552992" cy="4195762"/>
        </p:xfrm>
        <a:graphic>
          <a:graphicData uri="http://schemas.openxmlformats.org/drawingml/2006/table">
            <a:tbl>
              <a:tblPr/>
              <a:tblGrid>
                <a:gridCol w="4276496">
                  <a:extLst>
                    <a:ext uri="{9D8B030D-6E8A-4147-A177-3AD203B41FA5}">
                      <a16:colId xmlns:a16="http://schemas.microsoft.com/office/drawing/2014/main" val="1214230438"/>
                    </a:ext>
                  </a:extLst>
                </a:gridCol>
                <a:gridCol w="4276496">
                  <a:extLst>
                    <a:ext uri="{9D8B030D-6E8A-4147-A177-3AD203B41FA5}">
                      <a16:colId xmlns:a16="http://schemas.microsoft.com/office/drawing/2014/main" val="1763349769"/>
                    </a:ext>
                  </a:extLst>
                </a:gridCol>
              </a:tblGrid>
              <a:tr h="349647">
                <a:tc>
                  <a:txBody>
                    <a:bodyPr/>
                    <a:lstStyle/>
                    <a:p>
                      <a:pPr>
                        <a:buNone/>
                      </a:pPr>
                      <a:r>
                        <a:rPr lang="en-US" sz="1700" b="1"/>
                        <a:t>Chart / KPI</a:t>
                      </a:r>
                      <a:endParaRPr lang="en-US" sz="1700"/>
                    </a:p>
                  </a:txBody>
                  <a:tcPr marL="87412" marR="87412" marT="43706" marB="43706" anchor="ctr">
                    <a:lnL>
                      <a:noFill/>
                    </a:lnL>
                    <a:lnR>
                      <a:noFill/>
                    </a:lnR>
                    <a:lnT>
                      <a:noFill/>
                    </a:lnT>
                    <a:lnB>
                      <a:noFill/>
                    </a:lnB>
                    <a:noFill/>
                  </a:tcPr>
                </a:tc>
                <a:tc>
                  <a:txBody>
                    <a:bodyPr/>
                    <a:lstStyle/>
                    <a:p>
                      <a:pPr>
                        <a:buNone/>
                      </a:pPr>
                      <a:r>
                        <a:rPr lang="en-US" sz="1700" b="1" dirty="0"/>
                        <a:t>Analysis</a:t>
                      </a:r>
                    </a:p>
                  </a:txBody>
                  <a:tcPr marL="87412" marR="87412" marT="43706" marB="43706" anchor="ctr">
                    <a:lnL>
                      <a:noFill/>
                    </a:lnL>
                    <a:lnR>
                      <a:noFill/>
                    </a:lnR>
                    <a:lnT>
                      <a:noFill/>
                    </a:lnT>
                    <a:lnB>
                      <a:noFill/>
                    </a:lnB>
                    <a:noFill/>
                  </a:tcPr>
                </a:tc>
                <a:extLst>
                  <a:ext uri="{0D108BD9-81ED-4DB2-BD59-A6C34878D82A}">
                    <a16:rowId xmlns:a16="http://schemas.microsoft.com/office/drawing/2014/main" val="2905088239"/>
                  </a:ext>
                </a:extLst>
              </a:tr>
              <a:tr h="874117">
                <a:tc>
                  <a:txBody>
                    <a:bodyPr/>
                    <a:lstStyle/>
                    <a:p>
                      <a:pPr>
                        <a:buNone/>
                      </a:pPr>
                      <a:r>
                        <a:rPr lang="en-US" sz="1700" b="1"/>
                        <a:t>Sales Rank Trend</a:t>
                      </a:r>
                      <a:endParaRPr lang="en-US" sz="1700"/>
                    </a:p>
                  </a:txBody>
                  <a:tcPr marL="87412" marR="87412" marT="43706" marB="43706" anchor="ctr">
                    <a:lnL>
                      <a:noFill/>
                    </a:lnL>
                    <a:lnR>
                      <a:noFill/>
                    </a:lnR>
                    <a:lnT>
                      <a:noFill/>
                    </a:lnT>
                    <a:lnB>
                      <a:noFill/>
                    </a:lnB>
                    <a:noFill/>
                  </a:tcPr>
                </a:tc>
                <a:tc>
                  <a:txBody>
                    <a:bodyPr/>
                    <a:lstStyle/>
                    <a:p>
                      <a:pPr>
                        <a:buNone/>
                      </a:pPr>
                      <a:r>
                        <a:rPr lang="en-US" sz="1700" b="0"/>
                        <a:t>Rank improves during May–Jun and December, showing strong seasonality.</a:t>
                      </a:r>
                    </a:p>
                  </a:txBody>
                  <a:tcPr marL="87412" marR="87412" marT="43706" marB="43706" anchor="ctr">
                    <a:lnL>
                      <a:noFill/>
                    </a:lnL>
                    <a:lnR>
                      <a:noFill/>
                    </a:lnR>
                    <a:lnT>
                      <a:noFill/>
                    </a:lnT>
                    <a:lnB>
                      <a:noFill/>
                    </a:lnB>
                    <a:noFill/>
                  </a:tcPr>
                </a:tc>
                <a:extLst>
                  <a:ext uri="{0D108BD9-81ED-4DB2-BD59-A6C34878D82A}">
                    <a16:rowId xmlns:a16="http://schemas.microsoft.com/office/drawing/2014/main" val="118529608"/>
                  </a:ext>
                </a:extLst>
              </a:tr>
              <a:tr h="874117">
                <a:tc>
                  <a:txBody>
                    <a:bodyPr/>
                    <a:lstStyle/>
                    <a:p>
                      <a:pPr>
                        <a:buNone/>
                      </a:pPr>
                      <a:r>
                        <a:rPr lang="en-US" sz="1700" b="1"/>
                        <a:t>Average New Price</a:t>
                      </a:r>
                      <a:endParaRPr lang="en-US" sz="1700"/>
                    </a:p>
                  </a:txBody>
                  <a:tcPr marL="87412" marR="87412" marT="43706" marB="43706" anchor="ctr">
                    <a:lnL>
                      <a:noFill/>
                    </a:lnL>
                    <a:lnR>
                      <a:noFill/>
                    </a:lnR>
                    <a:lnT>
                      <a:noFill/>
                    </a:lnT>
                    <a:lnB>
                      <a:noFill/>
                    </a:lnB>
                    <a:noFill/>
                  </a:tcPr>
                </a:tc>
                <a:tc>
                  <a:txBody>
                    <a:bodyPr/>
                    <a:lstStyle/>
                    <a:p>
                      <a:pPr>
                        <a:buNone/>
                      </a:pPr>
                      <a:r>
                        <a:rPr lang="en-US" sz="1700" b="0" dirty="0"/>
                        <a:t>Lowest average price 59.7 JD, clearly positioned as the budget option.</a:t>
                      </a:r>
                    </a:p>
                  </a:txBody>
                  <a:tcPr marL="87412" marR="87412" marT="43706" marB="43706" anchor="ctr">
                    <a:lnL>
                      <a:noFill/>
                    </a:lnL>
                    <a:lnR>
                      <a:noFill/>
                    </a:lnR>
                    <a:lnT>
                      <a:noFill/>
                    </a:lnT>
                    <a:lnB>
                      <a:noFill/>
                    </a:lnB>
                    <a:noFill/>
                  </a:tcPr>
                </a:tc>
                <a:extLst>
                  <a:ext uri="{0D108BD9-81ED-4DB2-BD59-A6C34878D82A}">
                    <a16:rowId xmlns:a16="http://schemas.microsoft.com/office/drawing/2014/main" val="1745229487"/>
                  </a:ext>
                </a:extLst>
              </a:tr>
              <a:tr h="874117">
                <a:tc>
                  <a:txBody>
                    <a:bodyPr/>
                    <a:lstStyle/>
                    <a:p>
                      <a:pPr>
                        <a:buNone/>
                      </a:pPr>
                      <a:r>
                        <a:rPr lang="en-US" sz="1700" b="1" dirty="0"/>
                        <a:t>Discount %</a:t>
                      </a:r>
                      <a:endParaRPr lang="en-US" sz="1700" dirty="0"/>
                    </a:p>
                  </a:txBody>
                  <a:tcPr marL="87412" marR="87412" marT="43706" marB="43706" anchor="ctr">
                    <a:lnL>
                      <a:noFill/>
                    </a:lnL>
                    <a:lnR>
                      <a:noFill/>
                    </a:lnR>
                    <a:lnT>
                      <a:noFill/>
                    </a:lnT>
                    <a:lnB>
                      <a:noFill/>
                    </a:lnB>
                    <a:noFill/>
                  </a:tcPr>
                </a:tc>
                <a:tc>
                  <a:txBody>
                    <a:bodyPr/>
                    <a:lstStyle/>
                    <a:p>
                      <a:pPr>
                        <a:buNone/>
                      </a:pPr>
                      <a:r>
                        <a:rPr lang="en-US" sz="1700" b="0"/>
                        <a:t>Discounts applied in peak months (May–Jun, Dec) improve rank more effectively.</a:t>
                      </a:r>
                    </a:p>
                  </a:txBody>
                  <a:tcPr marL="87412" marR="87412" marT="43706" marB="43706" anchor="ctr">
                    <a:lnL>
                      <a:noFill/>
                    </a:lnL>
                    <a:lnR>
                      <a:noFill/>
                    </a:lnR>
                    <a:lnT>
                      <a:noFill/>
                    </a:lnT>
                    <a:lnB>
                      <a:noFill/>
                    </a:lnB>
                    <a:noFill/>
                  </a:tcPr>
                </a:tc>
                <a:extLst>
                  <a:ext uri="{0D108BD9-81ED-4DB2-BD59-A6C34878D82A}">
                    <a16:rowId xmlns:a16="http://schemas.microsoft.com/office/drawing/2014/main" val="3196507260"/>
                  </a:ext>
                </a:extLst>
              </a:tr>
              <a:tr h="611882">
                <a:tc>
                  <a:txBody>
                    <a:bodyPr/>
                    <a:lstStyle/>
                    <a:p>
                      <a:pPr>
                        <a:buNone/>
                      </a:pPr>
                      <a:r>
                        <a:rPr lang="en-US" sz="1700" b="1" dirty="0"/>
                        <a:t>Total Revenue 166K</a:t>
                      </a:r>
                      <a:endParaRPr lang="en-US" sz="1700" dirty="0"/>
                    </a:p>
                  </a:txBody>
                  <a:tcPr marL="87412" marR="87412" marT="43706" marB="43706" anchor="ctr">
                    <a:lnL>
                      <a:noFill/>
                    </a:lnL>
                    <a:lnR>
                      <a:noFill/>
                    </a:lnR>
                    <a:lnT>
                      <a:noFill/>
                    </a:lnT>
                    <a:lnB>
                      <a:noFill/>
                    </a:lnB>
                    <a:noFill/>
                  </a:tcPr>
                </a:tc>
                <a:tc>
                  <a:txBody>
                    <a:bodyPr/>
                    <a:lstStyle/>
                    <a:p>
                      <a:pPr>
                        <a:buNone/>
                      </a:pPr>
                      <a:r>
                        <a:rPr lang="en-US" sz="1700" b="0"/>
                        <a:t>Lowest total revenue among the three products; underperforms overall.</a:t>
                      </a:r>
                    </a:p>
                  </a:txBody>
                  <a:tcPr marL="87412" marR="87412" marT="43706" marB="43706" anchor="ctr">
                    <a:lnL>
                      <a:noFill/>
                    </a:lnL>
                    <a:lnR>
                      <a:noFill/>
                    </a:lnR>
                    <a:lnT>
                      <a:noFill/>
                    </a:lnT>
                    <a:lnB>
                      <a:noFill/>
                    </a:lnB>
                    <a:noFill/>
                  </a:tcPr>
                </a:tc>
                <a:extLst>
                  <a:ext uri="{0D108BD9-81ED-4DB2-BD59-A6C34878D82A}">
                    <a16:rowId xmlns:a16="http://schemas.microsoft.com/office/drawing/2014/main" val="1413086993"/>
                  </a:ext>
                </a:extLst>
              </a:tr>
              <a:tr h="611882">
                <a:tc>
                  <a:txBody>
                    <a:bodyPr/>
                    <a:lstStyle/>
                    <a:p>
                      <a:pPr>
                        <a:buNone/>
                      </a:pPr>
                      <a:r>
                        <a:rPr lang="en-US" sz="1700" b="1"/>
                        <a:t>Forecast (Rank/Price)</a:t>
                      </a:r>
                      <a:endParaRPr lang="en-US" sz="1700"/>
                    </a:p>
                  </a:txBody>
                  <a:tcPr marL="87412" marR="87412" marT="43706" marB="43706" anchor="ctr">
                    <a:lnL>
                      <a:noFill/>
                    </a:lnL>
                    <a:lnR>
                      <a:noFill/>
                    </a:lnR>
                    <a:lnT>
                      <a:noFill/>
                    </a:lnT>
                    <a:lnB>
                      <a:noFill/>
                    </a:lnB>
                    <a:noFill/>
                  </a:tcPr>
                </a:tc>
                <a:tc>
                  <a:txBody>
                    <a:bodyPr/>
                    <a:lstStyle/>
                    <a:p>
                      <a:pPr>
                        <a:buNone/>
                      </a:pPr>
                      <a:r>
                        <a:rPr lang="en-US" sz="1700" b="0" dirty="0"/>
                        <a:t>Forecast suggests continued weaker competitiveness compared to others.</a:t>
                      </a:r>
                    </a:p>
                  </a:txBody>
                  <a:tcPr marL="87412" marR="87412" marT="43706" marB="43706" anchor="ctr">
                    <a:lnL>
                      <a:noFill/>
                    </a:lnL>
                    <a:lnR>
                      <a:noFill/>
                    </a:lnR>
                    <a:lnT>
                      <a:noFill/>
                    </a:lnT>
                    <a:lnB>
                      <a:noFill/>
                    </a:lnB>
                    <a:noFill/>
                  </a:tcPr>
                </a:tc>
                <a:extLst>
                  <a:ext uri="{0D108BD9-81ED-4DB2-BD59-A6C34878D82A}">
                    <a16:rowId xmlns:a16="http://schemas.microsoft.com/office/drawing/2014/main" val="2843852318"/>
                  </a:ext>
                </a:extLst>
              </a:tr>
            </a:tbl>
          </a:graphicData>
        </a:graphic>
      </p:graphicFrame>
    </p:spTree>
    <p:extLst>
      <p:ext uri="{BB962C8B-B14F-4D97-AF65-F5344CB8AC3E}">
        <p14:creationId xmlns:p14="http://schemas.microsoft.com/office/powerpoint/2010/main" val="10290620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656FF-BDC2-E4A6-F648-F467FD4920F1}"/>
              </a:ext>
            </a:extLst>
          </p:cNvPr>
          <p:cNvSpPr>
            <a:spLocks noGrp="1"/>
          </p:cNvSpPr>
          <p:nvPr>
            <p:ph type="title"/>
          </p:nvPr>
        </p:nvSpPr>
        <p:spPr/>
        <p:txBody>
          <a:bodyPr/>
          <a:lstStyle/>
          <a:p>
            <a:r>
              <a:rPr lang="en-US" dirty="0"/>
              <a:t>Ornata V3 – Recommendations</a:t>
            </a:r>
          </a:p>
        </p:txBody>
      </p:sp>
      <p:graphicFrame>
        <p:nvGraphicFramePr>
          <p:cNvPr id="4" name="Content Placeholder 3">
            <a:extLst>
              <a:ext uri="{FF2B5EF4-FFF2-40B4-BE49-F238E27FC236}">
                <a16:creationId xmlns:a16="http://schemas.microsoft.com/office/drawing/2014/main" id="{2E0D0A02-9709-7CD5-7088-62884DDDB003}"/>
              </a:ext>
            </a:extLst>
          </p:cNvPr>
          <p:cNvGraphicFramePr>
            <a:graphicFrameLocks noGrp="1"/>
          </p:cNvGraphicFramePr>
          <p:nvPr>
            <p:ph idx="1"/>
            <p:extLst>
              <p:ext uri="{D42A27DB-BD31-4B8C-83A1-F6EECF244321}">
                <p14:modId xmlns:p14="http://schemas.microsoft.com/office/powerpoint/2010/main" val="935975483"/>
              </p:ext>
            </p:extLst>
          </p:nvPr>
        </p:nvGraphicFramePr>
        <p:xfrm>
          <a:off x="1300392" y="2052638"/>
          <a:ext cx="8552992" cy="4195762"/>
        </p:xfrm>
        <a:graphic>
          <a:graphicData uri="http://schemas.openxmlformats.org/drawingml/2006/table">
            <a:tbl>
              <a:tblPr/>
              <a:tblGrid>
                <a:gridCol w="4276496">
                  <a:extLst>
                    <a:ext uri="{9D8B030D-6E8A-4147-A177-3AD203B41FA5}">
                      <a16:colId xmlns:a16="http://schemas.microsoft.com/office/drawing/2014/main" val="1746316778"/>
                    </a:ext>
                  </a:extLst>
                </a:gridCol>
                <a:gridCol w="4276496">
                  <a:extLst>
                    <a:ext uri="{9D8B030D-6E8A-4147-A177-3AD203B41FA5}">
                      <a16:colId xmlns:a16="http://schemas.microsoft.com/office/drawing/2014/main" val="4149241207"/>
                    </a:ext>
                  </a:extLst>
                </a:gridCol>
              </a:tblGrid>
              <a:tr h="349647">
                <a:tc>
                  <a:txBody>
                    <a:bodyPr/>
                    <a:lstStyle/>
                    <a:p>
                      <a:pPr>
                        <a:buNone/>
                      </a:pPr>
                      <a:r>
                        <a:rPr lang="en-US" sz="1700" b="1"/>
                        <a:t>Insight</a:t>
                      </a:r>
                      <a:endParaRPr lang="en-US" sz="1700"/>
                    </a:p>
                  </a:txBody>
                  <a:tcPr marL="87412" marR="87412" marT="43706" marB="43706" anchor="ctr">
                    <a:lnL>
                      <a:noFill/>
                    </a:lnL>
                    <a:lnR>
                      <a:noFill/>
                    </a:lnR>
                    <a:lnT>
                      <a:noFill/>
                    </a:lnT>
                    <a:lnB>
                      <a:noFill/>
                    </a:lnB>
                    <a:noFill/>
                  </a:tcPr>
                </a:tc>
                <a:tc>
                  <a:txBody>
                    <a:bodyPr/>
                    <a:lstStyle/>
                    <a:p>
                      <a:pPr>
                        <a:buNone/>
                      </a:pPr>
                      <a:r>
                        <a:rPr lang="en-US" sz="1700" b="1" dirty="0"/>
                        <a:t>Recommendation</a:t>
                      </a:r>
                    </a:p>
                  </a:txBody>
                  <a:tcPr marL="87412" marR="87412" marT="43706" marB="43706" anchor="ctr">
                    <a:lnL>
                      <a:noFill/>
                    </a:lnL>
                    <a:lnR>
                      <a:noFill/>
                    </a:lnR>
                    <a:lnT>
                      <a:noFill/>
                    </a:lnT>
                    <a:lnB>
                      <a:noFill/>
                    </a:lnB>
                    <a:noFill/>
                  </a:tcPr>
                </a:tc>
                <a:extLst>
                  <a:ext uri="{0D108BD9-81ED-4DB2-BD59-A6C34878D82A}">
                    <a16:rowId xmlns:a16="http://schemas.microsoft.com/office/drawing/2014/main" val="3929014402"/>
                  </a:ext>
                </a:extLst>
              </a:tr>
              <a:tr h="611882">
                <a:tc>
                  <a:txBody>
                    <a:bodyPr/>
                    <a:lstStyle/>
                    <a:p>
                      <a:pPr>
                        <a:buNone/>
                      </a:pPr>
                      <a:r>
                        <a:rPr lang="en-US" sz="1700"/>
                        <a:t>Rank improves in May–Jun &amp; Dec</a:t>
                      </a:r>
                    </a:p>
                  </a:txBody>
                  <a:tcPr marL="87412" marR="87412" marT="43706" marB="43706" anchor="ctr">
                    <a:lnL>
                      <a:noFill/>
                    </a:lnL>
                    <a:lnR>
                      <a:noFill/>
                    </a:lnR>
                    <a:lnT>
                      <a:noFill/>
                    </a:lnT>
                    <a:lnB>
                      <a:noFill/>
                    </a:lnB>
                    <a:noFill/>
                  </a:tcPr>
                </a:tc>
                <a:tc>
                  <a:txBody>
                    <a:bodyPr/>
                    <a:lstStyle/>
                    <a:p>
                      <a:pPr>
                        <a:buNone/>
                      </a:pPr>
                      <a:r>
                        <a:rPr lang="en-US" sz="1700" b="0"/>
                        <a:t>Focus 15–20% targeted promotions during these peak months only.</a:t>
                      </a:r>
                    </a:p>
                  </a:txBody>
                  <a:tcPr marL="87412" marR="87412" marT="43706" marB="43706" anchor="ctr">
                    <a:lnL>
                      <a:noFill/>
                    </a:lnL>
                    <a:lnR>
                      <a:noFill/>
                    </a:lnR>
                    <a:lnT>
                      <a:noFill/>
                    </a:lnT>
                    <a:lnB>
                      <a:noFill/>
                    </a:lnB>
                    <a:noFill/>
                  </a:tcPr>
                </a:tc>
                <a:extLst>
                  <a:ext uri="{0D108BD9-81ED-4DB2-BD59-A6C34878D82A}">
                    <a16:rowId xmlns:a16="http://schemas.microsoft.com/office/drawing/2014/main" val="69229687"/>
                  </a:ext>
                </a:extLst>
              </a:tr>
              <a:tr h="611882">
                <a:tc>
                  <a:txBody>
                    <a:bodyPr/>
                    <a:lstStyle/>
                    <a:p>
                      <a:pPr>
                        <a:buNone/>
                      </a:pPr>
                      <a:r>
                        <a:rPr lang="en-US" sz="1700" dirty="0"/>
                        <a:t>Lowest average price 59.7 JD</a:t>
                      </a:r>
                    </a:p>
                  </a:txBody>
                  <a:tcPr marL="87412" marR="87412" marT="43706" marB="43706" anchor="ctr">
                    <a:lnL>
                      <a:noFill/>
                    </a:lnL>
                    <a:lnR>
                      <a:noFill/>
                    </a:lnR>
                    <a:lnT>
                      <a:noFill/>
                    </a:lnT>
                    <a:lnB>
                      <a:noFill/>
                    </a:lnB>
                    <a:noFill/>
                  </a:tcPr>
                </a:tc>
                <a:tc>
                  <a:txBody>
                    <a:bodyPr/>
                    <a:lstStyle/>
                    <a:p>
                      <a:pPr>
                        <a:buNone/>
                      </a:pPr>
                      <a:r>
                        <a:rPr lang="en-US" sz="1700" b="0"/>
                        <a:t>Reinforce value positioning with campaigns highlighting affordability.</a:t>
                      </a:r>
                    </a:p>
                  </a:txBody>
                  <a:tcPr marL="87412" marR="87412" marT="43706" marB="43706" anchor="ctr">
                    <a:lnL>
                      <a:noFill/>
                    </a:lnL>
                    <a:lnR>
                      <a:noFill/>
                    </a:lnR>
                    <a:lnT>
                      <a:noFill/>
                    </a:lnT>
                    <a:lnB>
                      <a:noFill/>
                    </a:lnB>
                    <a:noFill/>
                  </a:tcPr>
                </a:tc>
                <a:extLst>
                  <a:ext uri="{0D108BD9-81ED-4DB2-BD59-A6C34878D82A}">
                    <a16:rowId xmlns:a16="http://schemas.microsoft.com/office/drawing/2014/main" val="2076871762"/>
                  </a:ext>
                </a:extLst>
              </a:tr>
              <a:tr h="874117">
                <a:tc>
                  <a:txBody>
                    <a:bodyPr/>
                    <a:lstStyle/>
                    <a:p>
                      <a:pPr>
                        <a:buNone/>
                      </a:pPr>
                      <a:r>
                        <a:rPr lang="en-US" sz="1700"/>
                        <a:t>Discounts work better than for others</a:t>
                      </a:r>
                    </a:p>
                  </a:txBody>
                  <a:tcPr marL="87412" marR="87412" marT="43706" marB="43706" anchor="ctr">
                    <a:lnL>
                      <a:noFill/>
                    </a:lnL>
                    <a:lnR>
                      <a:noFill/>
                    </a:lnR>
                    <a:lnT>
                      <a:noFill/>
                    </a:lnT>
                    <a:lnB>
                      <a:noFill/>
                    </a:lnB>
                    <a:noFill/>
                  </a:tcPr>
                </a:tc>
                <a:tc>
                  <a:txBody>
                    <a:bodyPr/>
                    <a:lstStyle/>
                    <a:p>
                      <a:pPr>
                        <a:buNone/>
                      </a:pPr>
                      <a:r>
                        <a:rPr lang="en-US" sz="1700" b="0"/>
                        <a:t>Use seasonal promos + bundles to increase perceived value without deep cuts.</a:t>
                      </a:r>
                    </a:p>
                  </a:txBody>
                  <a:tcPr marL="87412" marR="87412" marT="43706" marB="43706" anchor="ctr">
                    <a:lnL>
                      <a:noFill/>
                    </a:lnL>
                    <a:lnR>
                      <a:noFill/>
                    </a:lnR>
                    <a:lnT>
                      <a:noFill/>
                    </a:lnT>
                    <a:lnB>
                      <a:noFill/>
                    </a:lnB>
                    <a:noFill/>
                  </a:tcPr>
                </a:tc>
                <a:extLst>
                  <a:ext uri="{0D108BD9-81ED-4DB2-BD59-A6C34878D82A}">
                    <a16:rowId xmlns:a16="http://schemas.microsoft.com/office/drawing/2014/main" val="1402461315"/>
                  </a:ext>
                </a:extLst>
              </a:tr>
              <a:tr h="874117">
                <a:tc>
                  <a:txBody>
                    <a:bodyPr/>
                    <a:lstStyle/>
                    <a:p>
                      <a:pPr>
                        <a:buNone/>
                      </a:pPr>
                      <a:r>
                        <a:rPr lang="en-US" sz="1700" dirty="0"/>
                        <a:t>Lowest revenue 166K</a:t>
                      </a:r>
                    </a:p>
                  </a:txBody>
                  <a:tcPr marL="87412" marR="87412" marT="43706" marB="43706" anchor="ctr">
                    <a:lnL>
                      <a:noFill/>
                    </a:lnL>
                    <a:lnR>
                      <a:noFill/>
                    </a:lnR>
                    <a:lnT>
                      <a:noFill/>
                    </a:lnT>
                    <a:lnB>
                      <a:noFill/>
                    </a:lnB>
                    <a:noFill/>
                  </a:tcPr>
                </a:tc>
                <a:tc>
                  <a:txBody>
                    <a:bodyPr/>
                    <a:lstStyle/>
                    <a:p>
                      <a:pPr>
                        <a:buNone/>
                      </a:pPr>
                      <a:r>
                        <a:rPr lang="en-US" sz="1700" b="0"/>
                        <a:t>Add awareness campaigns to grow visibility among budget-conscious buyers.</a:t>
                      </a:r>
                    </a:p>
                  </a:txBody>
                  <a:tcPr marL="87412" marR="87412" marT="43706" marB="43706" anchor="ctr">
                    <a:lnL>
                      <a:noFill/>
                    </a:lnL>
                    <a:lnR>
                      <a:noFill/>
                    </a:lnR>
                    <a:lnT>
                      <a:noFill/>
                    </a:lnT>
                    <a:lnB>
                      <a:noFill/>
                    </a:lnB>
                    <a:noFill/>
                  </a:tcPr>
                </a:tc>
                <a:extLst>
                  <a:ext uri="{0D108BD9-81ED-4DB2-BD59-A6C34878D82A}">
                    <a16:rowId xmlns:a16="http://schemas.microsoft.com/office/drawing/2014/main" val="421675461"/>
                  </a:ext>
                </a:extLst>
              </a:tr>
              <a:tr h="874117">
                <a:tc>
                  <a:txBody>
                    <a:bodyPr/>
                    <a:lstStyle/>
                    <a:p>
                      <a:pPr>
                        <a:buNone/>
                      </a:pPr>
                      <a:r>
                        <a:rPr lang="en-US" sz="1700"/>
                        <a:t>Weak forecast</a:t>
                      </a:r>
                    </a:p>
                  </a:txBody>
                  <a:tcPr marL="87412" marR="87412" marT="43706" marB="43706" anchor="ctr">
                    <a:lnL>
                      <a:noFill/>
                    </a:lnL>
                    <a:lnR>
                      <a:noFill/>
                    </a:lnR>
                    <a:lnT>
                      <a:noFill/>
                    </a:lnT>
                    <a:lnB>
                      <a:noFill/>
                    </a:lnB>
                    <a:noFill/>
                  </a:tcPr>
                </a:tc>
                <a:tc>
                  <a:txBody>
                    <a:bodyPr/>
                    <a:lstStyle/>
                    <a:p>
                      <a:pPr>
                        <a:buNone/>
                      </a:pPr>
                      <a:r>
                        <a:rPr lang="en-US" sz="1700" b="0" dirty="0"/>
                        <a:t>Treat Ornata as an entry-level product keep as portfolio support, not main driver.</a:t>
                      </a:r>
                    </a:p>
                  </a:txBody>
                  <a:tcPr marL="87412" marR="87412" marT="43706" marB="43706" anchor="ctr">
                    <a:lnL>
                      <a:noFill/>
                    </a:lnL>
                    <a:lnR>
                      <a:noFill/>
                    </a:lnR>
                    <a:lnT>
                      <a:noFill/>
                    </a:lnT>
                    <a:lnB>
                      <a:noFill/>
                    </a:lnB>
                    <a:noFill/>
                  </a:tcPr>
                </a:tc>
                <a:extLst>
                  <a:ext uri="{0D108BD9-81ED-4DB2-BD59-A6C34878D82A}">
                    <a16:rowId xmlns:a16="http://schemas.microsoft.com/office/drawing/2014/main" val="938174770"/>
                  </a:ext>
                </a:extLst>
              </a:tr>
            </a:tbl>
          </a:graphicData>
        </a:graphic>
      </p:graphicFrame>
    </p:spTree>
    <p:extLst>
      <p:ext uri="{BB962C8B-B14F-4D97-AF65-F5344CB8AC3E}">
        <p14:creationId xmlns:p14="http://schemas.microsoft.com/office/powerpoint/2010/main" val="8729533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CF72C-2AB7-D16F-D0ED-8E533AF3AA4C}"/>
              </a:ext>
            </a:extLst>
          </p:cNvPr>
          <p:cNvSpPr>
            <a:spLocks noGrp="1"/>
          </p:cNvSpPr>
          <p:nvPr>
            <p:ph type="title"/>
          </p:nvPr>
        </p:nvSpPr>
        <p:spPr/>
        <p:txBody>
          <a:bodyPr/>
          <a:lstStyle/>
          <a:p>
            <a:r>
              <a:rPr lang="en-US" dirty="0"/>
              <a:t>Summary for all 3</a:t>
            </a:r>
          </a:p>
        </p:txBody>
      </p:sp>
      <p:graphicFrame>
        <p:nvGraphicFramePr>
          <p:cNvPr id="4" name="Content Placeholder 3">
            <a:extLst>
              <a:ext uri="{FF2B5EF4-FFF2-40B4-BE49-F238E27FC236}">
                <a16:creationId xmlns:a16="http://schemas.microsoft.com/office/drawing/2014/main" id="{B2012CE7-471B-3172-47B7-84431C48442B}"/>
              </a:ext>
            </a:extLst>
          </p:cNvPr>
          <p:cNvGraphicFramePr>
            <a:graphicFrameLocks noGrp="1"/>
          </p:cNvGraphicFramePr>
          <p:nvPr>
            <p:ph idx="1"/>
            <p:extLst>
              <p:ext uri="{D42A27DB-BD31-4B8C-83A1-F6EECF244321}">
                <p14:modId xmlns:p14="http://schemas.microsoft.com/office/powerpoint/2010/main" val="280794848"/>
              </p:ext>
            </p:extLst>
          </p:nvPr>
        </p:nvGraphicFramePr>
        <p:xfrm>
          <a:off x="2211776" y="1986035"/>
          <a:ext cx="6730224" cy="4328968"/>
        </p:xfrm>
        <a:graphic>
          <a:graphicData uri="http://schemas.openxmlformats.org/drawingml/2006/table">
            <a:tbl>
              <a:tblPr/>
              <a:tblGrid>
                <a:gridCol w="2243408">
                  <a:extLst>
                    <a:ext uri="{9D8B030D-6E8A-4147-A177-3AD203B41FA5}">
                      <a16:colId xmlns:a16="http://schemas.microsoft.com/office/drawing/2014/main" val="3360352957"/>
                    </a:ext>
                  </a:extLst>
                </a:gridCol>
                <a:gridCol w="2243408">
                  <a:extLst>
                    <a:ext uri="{9D8B030D-6E8A-4147-A177-3AD203B41FA5}">
                      <a16:colId xmlns:a16="http://schemas.microsoft.com/office/drawing/2014/main" val="1390060587"/>
                    </a:ext>
                  </a:extLst>
                </a:gridCol>
                <a:gridCol w="2243408">
                  <a:extLst>
                    <a:ext uri="{9D8B030D-6E8A-4147-A177-3AD203B41FA5}">
                      <a16:colId xmlns:a16="http://schemas.microsoft.com/office/drawing/2014/main" val="3175574443"/>
                    </a:ext>
                  </a:extLst>
                </a:gridCol>
              </a:tblGrid>
              <a:tr h="275132">
                <a:tc>
                  <a:txBody>
                    <a:bodyPr/>
                    <a:lstStyle/>
                    <a:p>
                      <a:pPr>
                        <a:buNone/>
                      </a:pPr>
                      <a:r>
                        <a:rPr lang="en-US" sz="1400" b="1"/>
                        <a:t>Product Role</a:t>
                      </a:r>
                      <a:endParaRPr lang="en-US" sz="1400"/>
                    </a:p>
                  </a:txBody>
                  <a:tcPr marL="68783" marR="68783" marT="34391" marB="34391" anchor="ctr">
                    <a:lnL>
                      <a:noFill/>
                    </a:lnL>
                    <a:lnR>
                      <a:noFill/>
                    </a:lnR>
                    <a:lnT>
                      <a:noFill/>
                    </a:lnT>
                    <a:lnB>
                      <a:noFill/>
                    </a:lnB>
                    <a:noFill/>
                  </a:tcPr>
                </a:tc>
                <a:tc>
                  <a:txBody>
                    <a:bodyPr/>
                    <a:lstStyle/>
                    <a:p>
                      <a:pPr>
                        <a:buNone/>
                      </a:pPr>
                      <a:r>
                        <a:rPr lang="en-US" sz="1400" b="1" dirty="0"/>
                        <a:t>Key Insights</a:t>
                      </a:r>
                    </a:p>
                  </a:txBody>
                  <a:tcPr marL="68783" marR="68783" marT="34391" marB="34391" anchor="ctr">
                    <a:lnL>
                      <a:noFill/>
                    </a:lnL>
                    <a:lnR>
                      <a:noFill/>
                    </a:lnR>
                    <a:lnT>
                      <a:noFill/>
                    </a:lnT>
                    <a:lnB>
                      <a:noFill/>
                    </a:lnB>
                    <a:noFill/>
                  </a:tcPr>
                </a:tc>
                <a:tc>
                  <a:txBody>
                    <a:bodyPr/>
                    <a:lstStyle/>
                    <a:p>
                      <a:pPr>
                        <a:buNone/>
                      </a:pPr>
                      <a:r>
                        <a:rPr lang="en-US" sz="1400" b="1" dirty="0"/>
                        <a:t>Recommendations</a:t>
                      </a:r>
                    </a:p>
                  </a:txBody>
                  <a:tcPr marL="68783" marR="68783" marT="34391" marB="34391" anchor="ctr">
                    <a:lnL>
                      <a:noFill/>
                    </a:lnL>
                    <a:lnR>
                      <a:noFill/>
                    </a:lnR>
                    <a:lnT>
                      <a:noFill/>
                    </a:lnT>
                    <a:lnB>
                      <a:noFill/>
                    </a:lnB>
                    <a:noFill/>
                  </a:tcPr>
                </a:tc>
                <a:extLst>
                  <a:ext uri="{0D108BD9-81ED-4DB2-BD59-A6C34878D82A}">
                    <a16:rowId xmlns:a16="http://schemas.microsoft.com/office/drawing/2014/main" val="3939091521"/>
                  </a:ext>
                </a:extLst>
              </a:tr>
              <a:tr h="1306877">
                <a:tc>
                  <a:txBody>
                    <a:bodyPr/>
                    <a:lstStyle/>
                    <a:p>
                      <a:pPr>
                        <a:buNone/>
                      </a:pPr>
                      <a:r>
                        <a:rPr lang="en-US" sz="1400" b="1"/>
                        <a:t>BlackWidow V4 (Premium)</a:t>
                      </a:r>
                      <a:endParaRPr lang="en-US" sz="1400"/>
                    </a:p>
                  </a:txBody>
                  <a:tcPr marL="68783" marR="68783" marT="34391" marB="34391" anchor="ctr">
                    <a:lnL>
                      <a:noFill/>
                    </a:lnL>
                    <a:lnR>
                      <a:noFill/>
                    </a:lnR>
                    <a:lnT>
                      <a:noFill/>
                    </a:lnT>
                    <a:lnB>
                      <a:noFill/>
                    </a:lnB>
                    <a:noFill/>
                  </a:tcPr>
                </a:tc>
                <a:tc>
                  <a:txBody>
                    <a:bodyPr/>
                    <a:lstStyle/>
                    <a:p>
                      <a:pPr>
                        <a:buNone/>
                      </a:pPr>
                      <a:r>
                        <a:rPr lang="en-US" sz="1400" b="0" dirty="0"/>
                        <a:t>High revenue 248K, high avg price 124 JD, unstable rank in Q3–Q4, forecast dip.</a:t>
                      </a:r>
                    </a:p>
                  </a:txBody>
                  <a:tcPr marL="68783" marR="68783" marT="34391" marB="34391" anchor="ctr">
                    <a:lnL>
                      <a:noFill/>
                    </a:lnL>
                    <a:lnR>
                      <a:noFill/>
                    </a:lnR>
                    <a:lnT>
                      <a:noFill/>
                    </a:lnT>
                    <a:lnB>
                      <a:noFill/>
                    </a:lnB>
                    <a:noFill/>
                  </a:tcPr>
                </a:tc>
                <a:tc>
                  <a:txBody>
                    <a:bodyPr/>
                    <a:lstStyle/>
                    <a:p>
                      <a:pPr>
                        <a:buNone/>
                      </a:pPr>
                      <a:r>
                        <a:rPr lang="en-US" sz="1400" b="0"/>
                        <a:t>Protect premium pricing, use bundles not discounts, run event-based promos, align inventory before weak quarters.</a:t>
                      </a:r>
                    </a:p>
                  </a:txBody>
                  <a:tcPr marL="68783" marR="68783" marT="34391" marB="34391" anchor="ctr">
                    <a:lnL>
                      <a:noFill/>
                    </a:lnL>
                    <a:lnR>
                      <a:noFill/>
                    </a:lnR>
                    <a:lnT>
                      <a:noFill/>
                    </a:lnT>
                    <a:lnB>
                      <a:noFill/>
                    </a:lnB>
                    <a:noFill/>
                  </a:tcPr>
                </a:tc>
                <a:extLst>
                  <a:ext uri="{0D108BD9-81ED-4DB2-BD59-A6C34878D82A}">
                    <a16:rowId xmlns:a16="http://schemas.microsoft.com/office/drawing/2014/main" val="4235565684"/>
                  </a:ext>
                </a:extLst>
              </a:tr>
              <a:tr h="1306877">
                <a:tc>
                  <a:txBody>
                    <a:bodyPr/>
                    <a:lstStyle/>
                    <a:p>
                      <a:pPr>
                        <a:buNone/>
                      </a:pPr>
                      <a:r>
                        <a:rPr lang="en-US" sz="1400" b="1"/>
                        <a:t>Huntsman Mini (Volume Driver)</a:t>
                      </a:r>
                      <a:endParaRPr lang="en-US" sz="1400"/>
                    </a:p>
                  </a:txBody>
                  <a:tcPr marL="68783" marR="68783" marT="34391" marB="34391" anchor="ctr">
                    <a:lnL>
                      <a:noFill/>
                    </a:lnL>
                    <a:lnR>
                      <a:noFill/>
                    </a:lnR>
                    <a:lnT>
                      <a:noFill/>
                    </a:lnT>
                    <a:lnB>
                      <a:noFill/>
                    </a:lnB>
                    <a:noFill/>
                  </a:tcPr>
                </a:tc>
                <a:tc>
                  <a:txBody>
                    <a:bodyPr/>
                    <a:lstStyle/>
                    <a:p>
                      <a:pPr>
                        <a:buNone/>
                      </a:pPr>
                      <a:r>
                        <a:rPr lang="en-US" sz="1400" b="0" dirty="0"/>
                        <a:t>Highest revenue 260K, mid-tier price 79 JD, rank improves in Q1 &amp; Q4 with promos, forecast stable.</a:t>
                      </a:r>
                    </a:p>
                  </a:txBody>
                  <a:tcPr marL="68783" marR="68783" marT="34391" marB="34391" anchor="ctr">
                    <a:lnL>
                      <a:noFill/>
                    </a:lnL>
                    <a:lnR>
                      <a:noFill/>
                    </a:lnR>
                    <a:lnT>
                      <a:noFill/>
                    </a:lnT>
                    <a:lnB>
                      <a:noFill/>
                    </a:lnB>
                    <a:noFill/>
                  </a:tcPr>
                </a:tc>
                <a:tc>
                  <a:txBody>
                    <a:bodyPr/>
                    <a:lstStyle/>
                    <a:p>
                      <a:pPr>
                        <a:buNone/>
                      </a:pPr>
                      <a:r>
                        <a:rPr lang="en-US" sz="1400" b="0"/>
                        <a:t>Keep 10–15% discounts in Q1 &amp; Q4, reduce in off-peak months, add bundles/upsells, use forecast for stock planning.</a:t>
                      </a:r>
                    </a:p>
                  </a:txBody>
                  <a:tcPr marL="68783" marR="68783" marT="34391" marB="34391" anchor="ctr">
                    <a:lnL>
                      <a:noFill/>
                    </a:lnL>
                    <a:lnR>
                      <a:noFill/>
                    </a:lnR>
                    <a:lnT>
                      <a:noFill/>
                    </a:lnT>
                    <a:lnB>
                      <a:noFill/>
                    </a:lnB>
                    <a:noFill/>
                  </a:tcPr>
                </a:tc>
                <a:extLst>
                  <a:ext uri="{0D108BD9-81ED-4DB2-BD59-A6C34878D82A}">
                    <a16:rowId xmlns:a16="http://schemas.microsoft.com/office/drawing/2014/main" val="448245154"/>
                  </a:ext>
                </a:extLst>
              </a:tr>
              <a:tr h="1306877">
                <a:tc>
                  <a:txBody>
                    <a:bodyPr/>
                    <a:lstStyle/>
                    <a:p>
                      <a:pPr>
                        <a:buNone/>
                      </a:pPr>
                      <a:r>
                        <a:rPr lang="en-US" sz="1400" b="1"/>
                        <a:t>Ornata V3 (Value Option)</a:t>
                      </a:r>
                      <a:endParaRPr lang="en-US" sz="1400"/>
                    </a:p>
                  </a:txBody>
                  <a:tcPr marL="68783" marR="68783" marT="34391" marB="34391" anchor="ctr">
                    <a:lnL>
                      <a:noFill/>
                    </a:lnL>
                    <a:lnR>
                      <a:noFill/>
                    </a:lnR>
                    <a:lnT>
                      <a:noFill/>
                    </a:lnT>
                    <a:lnB>
                      <a:noFill/>
                    </a:lnB>
                    <a:noFill/>
                  </a:tcPr>
                </a:tc>
                <a:tc>
                  <a:txBody>
                    <a:bodyPr/>
                    <a:lstStyle/>
                    <a:p>
                      <a:pPr>
                        <a:buNone/>
                      </a:pPr>
                      <a:r>
                        <a:rPr lang="en-US" sz="1400" b="0" dirty="0"/>
                        <a:t>Lowest revenue 166K, lowest avg price 60 JD, rank improves in May–Jun &amp; Dec, forecast weak.</a:t>
                      </a:r>
                    </a:p>
                  </a:txBody>
                  <a:tcPr marL="68783" marR="68783" marT="34391" marB="34391" anchor="ctr">
                    <a:lnL>
                      <a:noFill/>
                    </a:lnL>
                    <a:lnR>
                      <a:noFill/>
                    </a:lnR>
                    <a:lnT>
                      <a:noFill/>
                    </a:lnT>
                    <a:lnB>
                      <a:noFill/>
                    </a:lnB>
                    <a:noFill/>
                  </a:tcPr>
                </a:tc>
                <a:tc>
                  <a:txBody>
                    <a:bodyPr/>
                    <a:lstStyle/>
                    <a:p>
                      <a:pPr>
                        <a:buNone/>
                      </a:pPr>
                      <a:r>
                        <a:rPr lang="en-US" sz="1400" b="0" dirty="0"/>
                        <a:t>Position as budget entry-level, run 15–20% targeted promos in peak months, add awareness campaigns, use bundles for value.</a:t>
                      </a:r>
                    </a:p>
                  </a:txBody>
                  <a:tcPr marL="68783" marR="68783" marT="34391" marB="34391" anchor="ctr">
                    <a:lnL>
                      <a:noFill/>
                    </a:lnL>
                    <a:lnR>
                      <a:noFill/>
                    </a:lnR>
                    <a:lnT>
                      <a:noFill/>
                    </a:lnT>
                    <a:lnB>
                      <a:noFill/>
                    </a:lnB>
                    <a:noFill/>
                  </a:tcPr>
                </a:tc>
                <a:extLst>
                  <a:ext uri="{0D108BD9-81ED-4DB2-BD59-A6C34878D82A}">
                    <a16:rowId xmlns:a16="http://schemas.microsoft.com/office/drawing/2014/main" val="3061151168"/>
                  </a:ext>
                </a:extLst>
              </a:tr>
            </a:tbl>
          </a:graphicData>
        </a:graphic>
      </p:graphicFrame>
    </p:spTree>
    <p:extLst>
      <p:ext uri="{BB962C8B-B14F-4D97-AF65-F5344CB8AC3E}">
        <p14:creationId xmlns:p14="http://schemas.microsoft.com/office/powerpoint/2010/main" val="7513734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9199A-A696-FF47-AB45-DD42C2AA7C89}"/>
              </a:ext>
            </a:extLst>
          </p:cNvPr>
          <p:cNvSpPr>
            <a:spLocks noGrp="1"/>
          </p:cNvSpPr>
          <p:nvPr>
            <p:ph type="title"/>
          </p:nvPr>
        </p:nvSpPr>
        <p:spPr/>
        <p:txBody>
          <a:bodyPr/>
          <a:lstStyle/>
          <a:p>
            <a:r>
              <a:rPr lang="en-US" dirty="0"/>
              <a:t>Business Requirements – evaluation</a:t>
            </a:r>
          </a:p>
        </p:txBody>
      </p:sp>
      <p:graphicFrame>
        <p:nvGraphicFramePr>
          <p:cNvPr id="4" name="Content Placeholder 3">
            <a:extLst>
              <a:ext uri="{FF2B5EF4-FFF2-40B4-BE49-F238E27FC236}">
                <a16:creationId xmlns:a16="http://schemas.microsoft.com/office/drawing/2014/main" id="{BB529395-F6DE-D4C2-2581-1A6007680728}"/>
              </a:ext>
            </a:extLst>
          </p:cNvPr>
          <p:cNvGraphicFramePr>
            <a:graphicFrameLocks noGrp="1"/>
          </p:cNvGraphicFramePr>
          <p:nvPr>
            <p:ph idx="1"/>
            <p:extLst>
              <p:ext uri="{D42A27DB-BD31-4B8C-83A1-F6EECF244321}">
                <p14:modId xmlns:p14="http://schemas.microsoft.com/office/powerpoint/2010/main" val="3929793128"/>
              </p:ext>
            </p:extLst>
          </p:nvPr>
        </p:nvGraphicFramePr>
        <p:xfrm>
          <a:off x="2211776" y="1882862"/>
          <a:ext cx="6730224" cy="4300922"/>
        </p:xfrm>
        <a:graphic>
          <a:graphicData uri="http://schemas.openxmlformats.org/drawingml/2006/table">
            <a:tbl>
              <a:tblPr/>
              <a:tblGrid>
                <a:gridCol w="3365112">
                  <a:extLst>
                    <a:ext uri="{9D8B030D-6E8A-4147-A177-3AD203B41FA5}">
                      <a16:colId xmlns:a16="http://schemas.microsoft.com/office/drawing/2014/main" val="317498516"/>
                    </a:ext>
                  </a:extLst>
                </a:gridCol>
                <a:gridCol w="3365112">
                  <a:extLst>
                    <a:ext uri="{9D8B030D-6E8A-4147-A177-3AD203B41FA5}">
                      <a16:colId xmlns:a16="http://schemas.microsoft.com/office/drawing/2014/main" val="3450572221"/>
                    </a:ext>
                  </a:extLst>
                </a:gridCol>
              </a:tblGrid>
              <a:tr h="275132">
                <a:tc>
                  <a:txBody>
                    <a:bodyPr/>
                    <a:lstStyle/>
                    <a:p>
                      <a:pPr>
                        <a:buNone/>
                      </a:pPr>
                      <a:r>
                        <a:rPr lang="en-US" sz="1400" b="1" dirty="0"/>
                        <a:t>Business Requirement</a:t>
                      </a:r>
                      <a:endParaRPr lang="en-US" sz="1400" dirty="0"/>
                    </a:p>
                  </a:txBody>
                  <a:tcPr marL="68783" marR="68783" marT="34391" marB="34391" anchor="ctr">
                    <a:lnL>
                      <a:noFill/>
                    </a:lnL>
                    <a:lnR>
                      <a:noFill/>
                    </a:lnR>
                    <a:lnT>
                      <a:noFill/>
                    </a:lnT>
                    <a:lnB>
                      <a:noFill/>
                    </a:lnB>
                    <a:noFill/>
                  </a:tcPr>
                </a:tc>
                <a:tc>
                  <a:txBody>
                    <a:bodyPr/>
                    <a:lstStyle/>
                    <a:p>
                      <a:pPr>
                        <a:buNone/>
                      </a:pPr>
                      <a:r>
                        <a:rPr lang="en-US" sz="1400" b="1"/>
                        <a:t>How the Solution Addressed It</a:t>
                      </a:r>
                      <a:endParaRPr lang="en-US" sz="1400"/>
                    </a:p>
                  </a:txBody>
                  <a:tcPr marL="68783" marR="68783" marT="34391" marB="34391" anchor="ctr">
                    <a:lnL>
                      <a:noFill/>
                    </a:lnL>
                    <a:lnR>
                      <a:noFill/>
                    </a:lnR>
                    <a:lnT>
                      <a:noFill/>
                    </a:lnT>
                    <a:lnB>
                      <a:noFill/>
                    </a:lnB>
                    <a:noFill/>
                  </a:tcPr>
                </a:tc>
                <a:extLst>
                  <a:ext uri="{0D108BD9-81ED-4DB2-BD59-A6C34878D82A}">
                    <a16:rowId xmlns:a16="http://schemas.microsoft.com/office/drawing/2014/main" val="307001369"/>
                  </a:ext>
                </a:extLst>
              </a:tr>
              <a:tr h="687830">
                <a:tc>
                  <a:txBody>
                    <a:bodyPr/>
                    <a:lstStyle/>
                    <a:p>
                      <a:pPr>
                        <a:buNone/>
                      </a:pPr>
                      <a:r>
                        <a:rPr lang="en-US" sz="1400"/>
                        <a:t>Use real marketplace data</a:t>
                      </a:r>
                    </a:p>
                  </a:txBody>
                  <a:tcPr marL="68783" marR="68783" marT="34391" marB="34391" anchor="ctr">
                    <a:lnL>
                      <a:noFill/>
                    </a:lnL>
                    <a:lnR>
                      <a:noFill/>
                    </a:lnR>
                    <a:lnT>
                      <a:noFill/>
                    </a:lnT>
                    <a:lnB>
                      <a:noFill/>
                    </a:lnB>
                    <a:noFill/>
                  </a:tcPr>
                </a:tc>
                <a:tc>
                  <a:txBody>
                    <a:bodyPr/>
                    <a:lstStyle/>
                    <a:p>
                      <a:pPr>
                        <a:buNone/>
                      </a:pPr>
                      <a:r>
                        <a:rPr lang="en-US" sz="1400"/>
                        <a:t>Helium 10 provided one year of Amazon sales data (Time, Sales Rank, List, New).</a:t>
                      </a:r>
                    </a:p>
                  </a:txBody>
                  <a:tcPr marL="68783" marR="68783" marT="34391" marB="34391" anchor="ctr">
                    <a:lnL>
                      <a:noFill/>
                    </a:lnL>
                    <a:lnR>
                      <a:noFill/>
                    </a:lnR>
                    <a:lnT>
                      <a:noFill/>
                    </a:lnT>
                    <a:lnB>
                      <a:noFill/>
                    </a:lnB>
                    <a:noFill/>
                  </a:tcPr>
                </a:tc>
                <a:extLst>
                  <a:ext uri="{0D108BD9-81ED-4DB2-BD59-A6C34878D82A}">
                    <a16:rowId xmlns:a16="http://schemas.microsoft.com/office/drawing/2014/main" val="3754173663"/>
                  </a:ext>
                </a:extLst>
              </a:tr>
              <a:tr h="687830">
                <a:tc>
                  <a:txBody>
                    <a:bodyPr/>
                    <a:lstStyle/>
                    <a:p>
                      <a:pPr>
                        <a:buNone/>
                      </a:pPr>
                      <a:r>
                        <a:rPr lang="en-US" sz="1400"/>
                        <a:t>Ensure clean and structured datasets</a:t>
                      </a:r>
                    </a:p>
                  </a:txBody>
                  <a:tcPr marL="68783" marR="68783" marT="34391" marB="34391" anchor="ctr">
                    <a:lnL>
                      <a:noFill/>
                    </a:lnL>
                    <a:lnR>
                      <a:noFill/>
                    </a:lnR>
                    <a:lnT>
                      <a:noFill/>
                    </a:lnT>
                    <a:lnB>
                      <a:noFill/>
                    </a:lnB>
                    <a:noFill/>
                  </a:tcPr>
                </a:tc>
                <a:tc>
                  <a:txBody>
                    <a:bodyPr/>
                    <a:lstStyle/>
                    <a:p>
                      <a:pPr>
                        <a:buNone/>
                      </a:pPr>
                      <a:r>
                        <a:rPr lang="en-US" sz="1400" dirty="0"/>
                        <a:t>Excel used for data cleaning, formatting</a:t>
                      </a:r>
                    </a:p>
                  </a:txBody>
                  <a:tcPr marL="68783" marR="68783" marT="34391" marB="34391" anchor="ctr">
                    <a:lnL>
                      <a:noFill/>
                    </a:lnL>
                    <a:lnR>
                      <a:noFill/>
                    </a:lnR>
                    <a:lnT>
                      <a:noFill/>
                    </a:lnT>
                    <a:lnB>
                      <a:noFill/>
                    </a:lnB>
                    <a:noFill/>
                  </a:tcPr>
                </a:tc>
                <a:extLst>
                  <a:ext uri="{0D108BD9-81ED-4DB2-BD59-A6C34878D82A}">
                    <a16:rowId xmlns:a16="http://schemas.microsoft.com/office/drawing/2014/main" val="3000378740"/>
                  </a:ext>
                </a:extLst>
              </a:tr>
              <a:tr h="687830">
                <a:tc>
                  <a:txBody>
                    <a:bodyPr/>
                    <a:lstStyle/>
                    <a:p>
                      <a:pPr>
                        <a:buNone/>
                      </a:pPr>
                      <a:r>
                        <a:rPr lang="en-US" sz="1400"/>
                        <a:t>Provide actionable analysis and KPIs</a:t>
                      </a:r>
                    </a:p>
                  </a:txBody>
                  <a:tcPr marL="68783" marR="68783" marT="34391" marB="34391" anchor="ctr">
                    <a:lnL>
                      <a:noFill/>
                    </a:lnL>
                    <a:lnR>
                      <a:noFill/>
                    </a:lnR>
                    <a:lnT>
                      <a:noFill/>
                    </a:lnT>
                    <a:lnB>
                      <a:noFill/>
                    </a:lnB>
                    <a:noFill/>
                  </a:tcPr>
                </a:tc>
                <a:tc>
                  <a:txBody>
                    <a:bodyPr/>
                    <a:lstStyle/>
                    <a:p>
                      <a:pPr>
                        <a:buNone/>
                      </a:pPr>
                      <a:r>
                        <a:rPr lang="en-US" sz="1400"/>
                        <a:t>Power BI dashboards built with DAX (Median Rank, Avg Price, Discount %, MoM).</a:t>
                      </a:r>
                    </a:p>
                  </a:txBody>
                  <a:tcPr marL="68783" marR="68783" marT="34391" marB="34391" anchor="ctr">
                    <a:lnL>
                      <a:noFill/>
                    </a:lnL>
                    <a:lnR>
                      <a:noFill/>
                    </a:lnR>
                    <a:lnT>
                      <a:noFill/>
                    </a:lnT>
                    <a:lnB>
                      <a:noFill/>
                    </a:lnB>
                    <a:noFill/>
                  </a:tcPr>
                </a:tc>
                <a:extLst>
                  <a:ext uri="{0D108BD9-81ED-4DB2-BD59-A6C34878D82A}">
                    <a16:rowId xmlns:a16="http://schemas.microsoft.com/office/drawing/2014/main" val="2190283103"/>
                  </a:ext>
                </a:extLst>
              </a:tr>
              <a:tr h="687830">
                <a:tc>
                  <a:txBody>
                    <a:bodyPr/>
                    <a:lstStyle/>
                    <a:p>
                      <a:pPr>
                        <a:buNone/>
                      </a:pPr>
                      <a:r>
                        <a:rPr lang="en-US" sz="1400"/>
                        <a:t>Forecast future performance</a:t>
                      </a:r>
                    </a:p>
                  </a:txBody>
                  <a:tcPr marL="68783" marR="68783" marT="34391" marB="34391" anchor="ctr">
                    <a:lnL>
                      <a:noFill/>
                    </a:lnL>
                    <a:lnR>
                      <a:noFill/>
                    </a:lnR>
                    <a:lnT>
                      <a:noFill/>
                    </a:lnT>
                    <a:lnB>
                      <a:noFill/>
                    </a:lnB>
                    <a:noFill/>
                  </a:tcPr>
                </a:tc>
                <a:tc>
                  <a:txBody>
                    <a:bodyPr/>
                    <a:lstStyle/>
                    <a:p>
                      <a:pPr>
                        <a:buNone/>
                      </a:pPr>
                      <a:r>
                        <a:rPr lang="en-US" sz="1400"/>
                        <a:t>Orange used for time-series forecasting; forecast data merged into Power BI.</a:t>
                      </a:r>
                    </a:p>
                  </a:txBody>
                  <a:tcPr marL="68783" marR="68783" marT="34391" marB="34391" anchor="ctr">
                    <a:lnL>
                      <a:noFill/>
                    </a:lnL>
                    <a:lnR>
                      <a:noFill/>
                    </a:lnR>
                    <a:lnT>
                      <a:noFill/>
                    </a:lnT>
                    <a:lnB>
                      <a:noFill/>
                    </a:lnB>
                    <a:noFill/>
                  </a:tcPr>
                </a:tc>
                <a:extLst>
                  <a:ext uri="{0D108BD9-81ED-4DB2-BD59-A6C34878D82A}">
                    <a16:rowId xmlns:a16="http://schemas.microsoft.com/office/drawing/2014/main" val="3604666108"/>
                  </a:ext>
                </a:extLst>
              </a:tr>
              <a:tr h="687830">
                <a:tc>
                  <a:txBody>
                    <a:bodyPr/>
                    <a:lstStyle/>
                    <a:p>
                      <a:pPr>
                        <a:buNone/>
                      </a:pPr>
                      <a:r>
                        <a:rPr lang="en-US" sz="1400"/>
                        <a:t>Support decision-making across departments</a:t>
                      </a:r>
                    </a:p>
                  </a:txBody>
                  <a:tcPr marL="68783" marR="68783" marT="34391" marB="34391" anchor="ctr">
                    <a:lnL>
                      <a:noFill/>
                    </a:lnL>
                    <a:lnR>
                      <a:noFill/>
                    </a:lnR>
                    <a:lnT>
                      <a:noFill/>
                    </a:lnT>
                    <a:lnB>
                      <a:noFill/>
                    </a:lnB>
                    <a:noFill/>
                  </a:tcPr>
                </a:tc>
                <a:tc>
                  <a:txBody>
                    <a:bodyPr/>
                    <a:lstStyle/>
                    <a:p>
                      <a:pPr>
                        <a:buNone/>
                      </a:pPr>
                      <a:r>
                        <a:rPr lang="en-US" sz="1400"/>
                        <a:t>Dashboards and reports tailored for marketing, sales managers, and executives.</a:t>
                      </a:r>
                    </a:p>
                  </a:txBody>
                  <a:tcPr marL="68783" marR="68783" marT="34391" marB="34391" anchor="ctr">
                    <a:lnL>
                      <a:noFill/>
                    </a:lnL>
                    <a:lnR>
                      <a:noFill/>
                    </a:lnR>
                    <a:lnT>
                      <a:noFill/>
                    </a:lnT>
                    <a:lnB>
                      <a:noFill/>
                    </a:lnB>
                    <a:noFill/>
                  </a:tcPr>
                </a:tc>
                <a:extLst>
                  <a:ext uri="{0D108BD9-81ED-4DB2-BD59-A6C34878D82A}">
                    <a16:rowId xmlns:a16="http://schemas.microsoft.com/office/drawing/2014/main" val="1477536706"/>
                  </a:ext>
                </a:extLst>
              </a:tr>
              <a:tr h="48148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cap="none" spc="0" dirty="0">
                          <a:solidFill>
                            <a:schemeClr val="tx1"/>
                          </a:solidFill>
                        </a:rPr>
                        <a:t>Enable comparative analysis across product tiers</a:t>
                      </a:r>
                    </a:p>
                  </a:txBody>
                  <a:tcPr marL="68783" marR="68783" marT="34391" marB="34391" anchor="ctr">
                    <a:lnL>
                      <a:noFill/>
                    </a:lnL>
                    <a:lnR>
                      <a:noFill/>
                    </a:lnR>
                    <a:lnT>
                      <a:noFill/>
                    </a:lnT>
                    <a:lnB>
                      <a:noFill/>
                    </a:lnB>
                    <a:noFill/>
                  </a:tcPr>
                </a:tc>
                <a:tc>
                  <a:txBody>
                    <a:bodyPr/>
                    <a:lstStyle/>
                    <a:p>
                      <a:pPr>
                        <a:buNone/>
                      </a:pPr>
                      <a:r>
                        <a:rPr lang="en-US" sz="1400" cap="none" spc="0" dirty="0">
                          <a:solidFill>
                            <a:schemeClr val="tx1"/>
                          </a:solidFill>
                        </a:rPr>
                        <a:t>Side-by-side dashboards for the keyboards allow easy comparison</a:t>
                      </a:r>
                      <a:endParaRPr lang="en-US" sz="1400" dirty="0"/>
                    </a:p>
                  </a:txBody>
                  <a:tcPr marL="68783" marR="68783" marT="34391" marB="34391" anchor="ctr">
                    <a:lnL>
                      <a:noFill/>
                    </a:lnL>
                    <a:lnR>
                      <a:noFill/>
                    </a:lnR>
                    <a:lnT>
                      <a:noFill/>
                    </a:lnT>
                    <a:lnB>
                      <a:noFill/>
                    </a:lnB>
                    <a:noFill/>
                  </a:tcPr>
                </a:tc>
                <a:extLst>
                  <a:ext uri="{0D108BD9-81ED-4DB2-BD59-A6C34878D82A}">
                    <a16:rowId xmlns:a16="http://schemas.microsoft.com/office/drawing/2014/main" val="3882652031"/>
                  </a:ext>
                </a:extLst>
              </a:tr>
            </a:tbl>
          </a:graphicData>
        </a:graphic>
      </p:graphicFrame>
    </p:spTree>
    <p:extLst>
      <p:ext uri="{BB962C8B-B14F-4D97-AF65-F5344CB8AC3E}">
        <p14:creationId xmlns:p14="http://schemas.microsoft.com/office/powerpoint/2010/main" val="32608938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998D5-88C8-E46A-0D32-49575D92475A}"/>
              </a:ext>
            </a:extLst>
          </p:cNvPr>
          <p:cNvSpPr>
            <a:spLocks noGrp="1"/>
          </p:cNvSpPr>
          <p:nvPr>
            <p:ph type="title"/>
          </p:nvPr>
        </p:nvSpPr>
        <p:spPr/>
        <p:txBody>
          <a:bodyPr/>
          <a:lstStyle/>
          <a:p>
            <a:r>
              <a:rPr lang="en-US" dirty="0"/>
              <a:t>User Requirements – evaluation </a:t>
            </a:r>
          </a:p>
        </p:txBody>
      </p:sp>
      <p:graphicFrame>
        <p:nvGraphicFramePr>
          <p:cNvPr id="7" name="Content Placeholder 6">
            <a:extLst>
              <a:ext uri="{FF2B5EF4-FFF2-40B4-BE49-F238E27FC236}">
                <a16:creationId xmlns:a16="http://schemas.microsoft.com/office/drawing/2014/main" id="{3DAF6B83-0D7B-A968-0B48-FAF42A089DC1}"/>
              </a:ext>
            </a:extLst>
          </p:cNvPr>
          <p:cNvGraphicFramePr>
            <a:graphicFrameLocks noGrp="1"/>
          </p:cNvGraphicFramePr>
          <p:nvPr>
            <p:ph idx="1"/>
            <p:extLst>
              <p:ext uri="{D42A27DB-BD31-4B8C-83A1-F6EECF244321}">
                <p14:modId xmlns:p14="http://schemas.microsoft.com/office/powerpoint/2010/main" val="2693573493"/>
              </p:ext>
            </p:extLst>
          </p:nvPr>
        </p:nvGraphicFramePr>
        <p:xfrm>
          <a:off x="2730888" y="2406277"/>
          <a:ext cx="6730224" cy="3075526"/>
        </p:xfrm>
        <a:graphic>
          <a:graphicData uri="http://schemas.openxmlformats.org/drawingml/2006/table">
            <a:tbl>
              <a:tblPr/>
              <a:tblGrid>
                <a:gridCol w="3365112">
                  <a:extLst>
                    <a:ext uri="{9D8B030D-6E8A-4147-A177-3AD203B41FA5}">
                      <a16:colId xmlns:a16="http://schemas.microsoft.com/office/drawing/2014/main" val="4133821664"/>
                    </a:ext>
                  </a:extLst>
                </a:gridCol>
                <a:gridCol w="3365112">
                  <a:extLst>
                    <a:ext uri="{9D8B030D-6E8A-4147-A177-3AD203B41FA5}">
                      <a16:colId xmlns:a16="http://schemas.microsoft.com/office/drawing/2014/main" val="374794289"/>
                    </a:ext>
                  </a:extLst>
                </a:gridCol>
              </a:tblGrid>
              <a:tr h="275132">
                <a:tc>
                  <a:txBody>
                    <a:bodyPr/>
                    <a:lstStyle/>
                    <a:p>
                      <a:pPr>
                        <a:buNone/>
                      </a:pPr>
                      <a:r>
                        <a:rPr lang="en-US" sz="1400" b="1"/>
                        <a:t>User Requirement</a:t>
                      </a:r>
                      <a:endParaRPr lang="en-US" sz="1400" dirty="0"/>
                    </a:p>
                  </a:txBody>
                  <a:tcPr marL="68783" marR="68783" marT="34391" marB="34391" anchor="ctr">
                    <a:lnL>
                      <a:noFill/>
                    </a:lnL>
                    <a:lnR>
                      <a:noFill/>
                    </a:lnR>
                    <a:lnT>
                      <a:noFill/>
                    </a:lnT>
                    <a:lnB>
                      <a:noFill/>
                    </a:lnB>
                    <a:noFill/>
                  </a:tcPr>
                </a:tc>
                <a:tc>
                  <a:txBody>
                    <a:bodyPr/>
                    <a:lstStyle/>
                    <a:p>
                      <a:pPr>
                        <a:buNone/>
                      </a:pPr>
                      <a:r>
                        <a:rPr lang="en-US" sz="1400" b="1"/>
                        <a:t>How the Solution Addressed It</a:t>
                      </a:r>
                      <a:endParaRPr lang="en-US" sz="1400"/>
                    </a:p>
                  </a:txBody>
                  <a:tcPr marL="68783" marR="68783" marT="34391" marB="34391" anchor="ctr">
                    <a:lnL>
                      <a:noFill/>
                    </a:lnL>
                    <a:lnR>
                      <a:noFill/>
                    </a:lnR>
                    <a:lnT>
                      <a:noFill/>
                    </a:lnT>
                    <a:lnB>
                      <a:noFill/>
                    </a:lnB>
                    <a:noFill/>
                  </a:tcPr>
                </a:tc>
                <a:extLst>
                  <a:ext uri="{0D108BD9-81ED-4DB2-BD59-A6C34878D82A}">
                    <a16:rowId xmlns:a16="http://schemas.microsoft.com/office/drawing/2014/main" val="699590403"/>
                  </a:ext>
                </a:extLst>
              </a:tr>
              <a:tr h="687830">
                <a:tc>
                  <a:txBody>
                    <a:bodyPr/>
                    <a:lstStyle/>
                    <a:p>
                      <a:r>
                        <a:rPr lang="en-US" sz="1400" dirty="0"/>
                        <a:t>Understand which products are price-sensitive</a:t>
                      </a:r>
                    </a:p>
                  </a:txBody>
                  <a:tcPr marL="68783" marR="68783" marT="34391" marB="34391" anchor="ctr">
                    <a:lnL>
                      <a:noFill/>
                    </a:lnL>
                    <a:lnR>
                      <a:noFill/>
                    </a:lnR>
                    <a:lnT>
                      <a:noFill/>
                    </a:lnT>
                    <a:lnB>
                      <a:noFill/>
                    </a:lnB>
                    <a:noFill/>
                  </a:tcPr>
                </a:tc>
                <a:tc>
                  <a:txBody>
                    <a:bodyPr/>
                    <a:lstStyle/>
                    <a:p>
                      <a:pPr>
                        <a:buNone/>
                      </a:pPr>
                      <a:r>
                        <a:rPr lang="en-US" sz="1400" dirty="0"/>
                        <a:t>Power BI visuals show clear price-performance links</a:t>
                      </a:r>
                    </a:p>
                  </a:txBody>
                  <a:tcPr marL="68783" marR="68783" marT="34391" marB="34391" anchor="ctr">
                    <a:lnL>
                      <a:noFill/>
                    </a:lnL>
                    <a:lnR>
                      <a:noFill/>
                    </a:lnR>
                    <a:lnT>
                      <a:noFill/>
                    </a:lnT>
                    <a:lnB>
                      <a:noFill/>
                    </a:lnB>
                    <a:noFill/>
                  </a:tcPr>
                </a:tc>
                <a:extLst>
                  <a:ext uri="{0D108BD9-81ED-4DB2-BD59-A6C34878D82A}">
                    <a16:rowId xmlns:a16="http://schemas.microsoft.com/office/drawing/2014/main" val="1813454782"/>
                  </a:ext>
                </a:extLst>
              </a:tr>
              <a:tr h="687830">
                <a:tc>
                  <a:txBody>
                    <a:bodyPr/>
                    <a:lstStyle/>
                    <a:p>
                      <a:r>
                        <a:rPr lang="en-US" sz="1400" dirty="0"/>
                        <a:t>Plan seasonal promotions</a:t>
                      </a:r>
                    </a:p>
                  </a:txBody>
                  <a:tcPr marL="68783" marR="68783" marT="34391" marB="34391" anchor="ctr">
                    <a:lnL>
                      <a:noFill/>
                    </a:lnL>
                    <a:lnR>
                      <a:noFill/>
                    </a:lnR>
                    <a:lnT>
                      <a:noFill/>
                    </a:lnT>
                    <a:lnB>
                      <a:noFill/>
                    </a:lnB>
                    <a:noFill/>
                  </a:tcPr>
                </a:tc>
                <a:tc>
                  <a:txBody>
                    <a:bodyPr/>
                    <a:lstStyle/>
                    <a:p>
                      <a:pPr>
                        <a:buNone/>
                      </a:pPr>
                      <a:r>
                        <a:rPr lang="en-US" sz="1400" dirty="0"/>
                        <a:t>Forecasts indicate when performance may dip, allowing proactive campaign timing</a:t>
                      </a:r>
                    </a:p>
                  </a:txBody>
                  <a:tcPr marL="68783" marR="68783" marT="34391" marB="34391" anchor="ctr">
                    <a:lnL>
                      <a:noFill/>
                    </a:lnL>
                    <a:lnR>
                      <a:noFill/>
                    </a:lnR>
                    <a:lnT>
                      <a:noFill/>
                    </a:lnT>
                    <a:lnB>
                      <a:noFill/>
                    </a:lnB>
                    <a:noFill/>
                  </a:tcPr>
                </a:tc>
                <a:extLst>
                  <a:ext uri="{0D108BD9-81ED-4DB2-BD59-A6C34878D82A}">
                    <a16:rowId xmlns:a16="http://schemas.microsoft.com/office/drawing/2014/main" val="3859856854"/>
                  </a:ext>
                </a:extLst>
              </a:tr>
              <a:tr h="687830">
                <a:tc>
                  <a:txBody>
                    <a:bodyPr/>
                    <a:lstStyle/>
                    <a:p>
                      <a:r>
                        <a:rPr lang="en-US" sz="1400" dirty="0"/>
                        <a:t>Optimize budget usage</a:t>
                      </a:r>
                    </a:p>
                  </a:txBody>
                  <a:tcPr marL="68783" marR="68783" marT="34391" marB="34391" anchor="ctr">
                    <a:lnL>
                      <a:noFill/>
                    </a:lnL>
                    <a:lnR>
                      <a:noFill/>
                    </a:lnR>
                    <a:lnT>
                      <a:noFill/>
                    </a:lnT>
                    <a:lnB>
                      <a:noFill/>
                    </a:lnB>
                    <a:noFill/>
                  </a:tcPr>
                </a:tc>
                <a:tc>
                  <a:txBody>
                    <a:bodyPr/>
                    <a:lstStyle/>
                    <a:p>
                      <a:pPr>
                        <a:buNone/>
                      </a:pPr>
                      <a:r>
                        <a:rPr lang="en-US" sz="1400" dirty="0"/>
                        <a:t>Discount efficiency and rank trends show when marketing spend has best impact</a:t>
                      </a:r>
                    </a:p>
                  </a:txBody>
                  <a:tcPr marL="68783" marR="68783" marT="34391" marB="34391" anchor="ctr">
                    <a:lnL>
                      <a:noFill/>
                    </a:lnL>
                    <a:lnR>
                      <a:noFill/>
                    </a:lnR>
                    <a:lnT>
                      <a:noFill/>
                    </a:lnT>
                    <a:lnB>
                      <a:noFill/>
                    </a:lnB>
                    <a:noFill/>
                  </a:tcPr>
                </a:tc>
                <a:extLst>
                  <a:ext uri="{0D108BD9-81ED-4DB2-BD59-A6C34878D82A}">
                    <a16:rowId xmlns:a16="http://schemas.microsoft.com/office/drawing/2014/main" val="3054623267"/>
                  </a:ext>
                </a:extLst>
              </a:tr>
              <a:tr h="687830">
                <a:tc>
                  <a:txBody>
                    <a:bodyPr/>
                    <a:lstStyle/>
                    <a:p>
                      <a:r>
                        <a:rPr lang="en-US" sz="1400" dirty="0"/>
                        <a:t>Communicate results visually to management</a:t>
                      </a:r>
                    </a:p>
                  </a:txBody>
                  <a:tcPr marL="68783" marR="68783" marT="34391" marB="34391" anchor="ctr">
                    <a:lnL>
                      <a:noFill/>
                    </a:lnL>
                    <a:lnR>
                      <a:noFill/>
                    </a:lnR>
                    <a:lnT>
                      <a:noFill/>
                    </a:lnT>
                    <a:lnB>
                      <a:noFill/>
                    </a:lnB>
                    <a:noFill/>
                  </a:tcPr>
                </a:tc>
                <a:tc>
                  <a:txBody>
                    <a:bodyPr/>
                    <a:lstStyle/>
                    <a:p>
                      <a:pPr>
                        <a:buNone/>
                      </a:pPr>
                      <a:r>
                        <a:rPr lang="en-US" sz="1400" dirty="0"/>
                        <a:t>Dashboards use cards, line charts, and slicers to simplify communication</a:t>
                      </a:r>
                    </a:p>
                  </a:txBody>
                  <a:tcPr marL="68783" marR="68783" marT="34391" marB="34391" anchor="ctr">
                    <a:lnL>
                      <a:noFill/>
                    </a:lnL>
                    <a:lnR>
                      <a:noFill/>
                    </a:lnR>
                    <a:lnT>
                      <a:noFill/>
                    </a:lnT>
                    <a:lnB>
                      <a:noFill/>
                    </a:lnB>
                    <a:noFill/>
                  </a:tcPr>
                </a:tc>
                <a:extLst>
                  <a:ext uri="{0D108BD9-81ED-4DB2-BD59-A6C34878D82A}">
                    <a16:rowId xmlns:a16="http://schemas.microsoft.com/office/drawing/2014/main" val="1504623720"/>
                  </a:ext>
                </a:extLst>
              </a:tr>
            </a:tbl>
          </a:graphicData>
        </a:graphic>
      </p:graphicFrame>
    </p:spTree>
    <p:extLst>
      <p:ext uri="{BB962C8B-B14F-4D97-AF65-F5344CB8AC3E}">
        <p14:creationId xmlns:p14="http://schemas.microsoft.com/office/powerpoint/2010/main" val="10818348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A589C-7B0C-50E3-5878-9E05600393ED}"/>
              </a:ext>
            </a:extLst>
          </p:cNvPr>
          <p:cNvSpPr>
            <a:spLocks noGrp="1"/>
          </p:cNvSpPr>
          <p:nvPr>
            <p:ph type="title"/>
          </p:nvPr>
        </p:nvSpPr>
        <p:spPr/>
        <p:txBody>
          <a:bodyPr/>
          <a:lstStyle/>
          <a:p>
            <a:r>
              <a:rPr lang="en-US" sz="4400" dirty="0">
                <a:solidFill>
                  <a:srgbClr val="FFFFFF"/>
                </a:solidFill>
              </a:rPr>
              <a:t>Identified Gaps &amp; Limitations</a:t>
            </a:r>
            <a:endParaRPr lang="en-US" dirty="0"/>
          </a:p>
        </p:txBody>
      </p:sp>
      <p:graphicFrame>
        <p:nvGraphicFramePr>
          <p:cNvPr id="4" name="Content Placeholder 3">
            <a:extLst>
              <a:ext uri="{FF2B5EF4-FFF2-40B4-BE49-F238E27FC236}">
                <a16:creationId xmlns:a16="http://schemas.microsoft.com/office/drawing/2014/main" id="{A61ECC96-34B9-6FDE-EA6F-2BD209042680}"/>
              </a:ext>
            </a:extLst>
          </p:cNvPr>
          <p:cNvGraphicFramePr>
            <a:graphicFrameLocks noGrp="1"/>
          </p:cNvGraphicFramePr>
          <p:nvPr>
            <p:ph idx="1"/>
            <p:extLst>
              <p:ext uri="{D42A27DB-BD31-4B8C-83A1-F6EECF244321}">
                <p14:modId xmlns:p14="http://schemas.microsoft.com/office/powerpoint/2010/main" val="2719121638"/>
              </p:ext>
            </p:extLst>
          </p:nvPr>
        </p:nvGraphicFramePr>
        <p:xfrm>
          <a:off x="1114457" y="1911037"/>
          <a:ext cx="8924862" cy="3564792"/>
        </p:xfrm>
        <a:graphic>
          <a:graphicData uri="http://schemas.openxmlformats.org/drawingml/2006/table">
            <a:tbl>
              <a:tblPr/>
              <a:tblGrid>
                <a:gridCol w="4462431">
                  <a:extLst>
                    <a:ext uri="{9D8B030D-6E8A-4147-A177-3AD203B41FA5}">
                      <a16:colId xmlns:a16="http://schemas.microsoft.com/office/drawing/2014/main" val="2934463354"/>
                    </a:ext>
                  </a:extLst>
                </a:gridCol>
                <a:gridCol w="4462431">
                  <a:extLst>
                    <a:ext uri="{9D8B030D-6E8A-4147-A177-3AD203B41FA5}">
                      <a16:colId xmlns:a16="http://schemas.microsoft.com/office/drawing/2014/main" val="4064572085"/>
                    </a:ext>
                  </a:extLst>
                </a:gridCol>
              </a:tblGrid>
              <a:tr h="364849">
                <a:tc>
                  <a:txBody>
                    <a:bodyPr/>
                    <a:lstStyle/>
                    <a:p>
                      <a:pPr>
                        <a:buNone/>
                      </a:pPr>
                      <a:r>
                        <a:rPr lang="en-US" sz="1800" b="1" dirty="0"/>
                        <a:t>Area</a:t>
                      </a:r>
                      <a:endParaRPr lang="en-US" sz="1800" dirty="0"/>
                    </a:p>
                  </a:txBody>
                  <a:tcPr marL="91212" marR="91212" marT="45606" marB="45606" anchor="ctr">
                    <a:lnL>
                      <a:noFill/>
                    </a:lnL>
                    <a:lnR>
                      <a:noFill/>
                    </a:lnR>
                    <a:lnT>
                      <a:noFill/>
                    </a:lnT>
                    <a:lnB>
                      <a:noFill/>
                    </a:lnB>
                    <a:noFill/>
                  </a:tcPr>
                </a:tc>
                <a:tc>
                  <a:txBody>
                    <a:bodyPr/>
                    <a:lstStyle/>
                    <a:p>
                      <a:pPr>
                        <a:buNone/>
                      </a:pPr>
                      <a:r>
                        <a:rPr lang="en-US" sz="1800" b="1"/>
                        <a:t>Gap</a:t>
                      </a:r>
                      <a:endParaRPr lang="en-US" sz="1800"/>
                    </a:p>
                  </a:txBody>
                  <a:tcPr marL="91212" marR="91212" marT="45606" marB="45606" anchor="ctr">
                    <a:lnL>
                      <a:noFill/>
                    </a:lnL>
                    <a:lnR>
                      <a:noFill/>
                    </a:lnR>
                    <a:lnT>
                      <a:noFill/>
                    </a:lnT>
                    <a:lnB>
                      <a:noFill/>
                    </a:lnB>
                    <a:noFill/>
                  </a:tcPr>
                </a:tc>
                <a:extLst>
                  <a:ext uri="{0D108BD9-81ED-4DB2-BD59-A6C34878D82A}">
                    <a16:rowId xmlns:a16="http://schemas.microsoft.com/office/drawing/2014/main" val="3027230306"/>
                  </a:ext>
                </a:extLst>
              </a:tr>
              <a:tr h="638486">
                <a:tc>
                  <a:txBody>
                    <a:bodyPr/>
                    <a:lstStyle/>
                    <a:p>
                      <a:pPr>
                        <a:buNone/>
                      </a:pPr>
                      <a:r>
                        <a:rPr lang="en-US" sz="1800" dirty="0"/>
                        <a:t>Dataset</a:t>
                      </a:r>
                    </a:p>
                  </a:txBody>
                  <a:tcPr marL="91212" marR="91212" marT="45606" marB="45606" anchor="ctr">
                    <a:lnL>
                      <a:noFill/>
                    </a:lnL>
                    <a:lnR>
                      <a:noFill/>
                    </a:lnR>
                    <a:lnT>
                      <a:noFill/>
                    </a:lnT>
                    <a:lnB>
                      <a:noFill/>
                    </a:lnB>
                    <a:noFill/>
                  </a:tcPr>
                </a:tc>
                <a:tc>
                  <a:txBody>
                    <a:bodyPr/>
                    <a:lstStyle/>
                    <a:p>
                      <a:pPr>
                        <a:buNone/>
                      </a:pPr>
                      <a:r>
                        <a:rPr lang="en-US" sz="1800" b="0" dirty="0"/>
                        <a:t>Limited to 1 year and 3 products lacks competitor data, reviews, ads.</a:t>
                      </a:r>
                    </a:p>
                  </a:txBody>
                  <a:tcPr marL="91212" marR="91212" marT="45606" marB="45606" anchor="ctr">
                    <a:lnL>
                      <a:noFill/>
                    </a:lnL>
                    <a:lnR>
                      <a:noFill/>
                    </a:lnR>
                    <a:lnT>
                      <a:noFill/>
                    </a:lnT>
                    <a:lnB>
                      <a:noFill/>
                    </a:lnB>
                    <a:noFill/>
                  </a:tcPr>
                </a:tc>
                <a:extLst>
                  <a:ext uri="{0D108BD9-81ED-4DB2-BD59-A6C34878D82A}">
                    <a16:rowId xmlns:a16="http://schemas.microsoft.com/office/drawing/2014/main" val="2592255478"/>
                  </a:ext>
                </a:extLst>
              </a:tr>
              <a:tr h="638486">
                <a:tc>
                  <a:txBody>
                    <a:bodyPr/>
                    <a:lstStyle/>
                    <a:p>
                      <a:pPr>
                        <a:buNone/>
                      </a:pPr>
                      <a:r>
                        <a:rPr lang="en-US" sz="1800" dirty="0"/>
                        <a:t>Automation</a:t>
                      </a:r>
                    </a:p>
                  </a:txBody>
                  <a:tcPr marL="91212" marR="91212" marT="45606" marB="45606" anchor="ctr">
                    <a:lnL>
                      <a:noFill/>
                    </a:lnL>
                    <a:lnR>
                      <a:noFill/>
                    </a:lnR>
                    <a:lnT>
                      <a:noFill/>
                    </a:lnT>
                    <a:lnB>
                      <a:noFill/>
                    </a:lnB>
                    <a:noFill/>
                  </a:tcPr>
                </a:tc>
                <a:tc>
                  <a:txBody>
                    <a:bodyPr/>
                    <a:lstStyle/>
                    <a:p>
                      <a:pPr>
                        <a:buNone/>
                      </a:pPr>
                      <a:r>
                        <a:rPr lang="en-US" sz="1800" b="0" dirty="0"/>
                        <a:t>Entire process is manual no scheduled refresh or direct integration.</a:t>
                      </a:r>
                    </a:p>
                  </a:txBody>
                  <a:tcPr marL="91212" marR="91212" marT="45606" marB="45606" anchor="ctr">
                    <a:lnL>
                      <a:noFill/>
                    </a:lnL>
                    <a:lnR>
                      <a:noFill/>
                    </a:lnR>
                    <a:lnT>
                      <a:noFill/>
                    </a:lnT>
                    <a:lnB>
                      <a:noFill/>
                    </a:lnB>
                    <a:noFill/>
                  </a:tcPr>
                </a:tc>
                <a:extLst>
                  <a:ext uri="{0D108BD9-81ED-4DB2-BD59-A6C34878D82A}">
                    <a16:rowId xmlns:a16="http://schemas.microsoft.com/office/drawing/2014/main" val="2693726095"/>
                  </a:ext>
                </a:extLst>
              </a:tr>
              <a:tr h="638486">
                <a:tc>
                  <a:txBody>
                    <a:bodyPr/>
                    <a:lstStyle/>
                    <a:p>
                      <a:pPr>
                        <a:buNone/>
                      </a:pPr>
                      <a:r>
                        <a:rPr lang="en-US" sz="1800" dirty="0"/>
                        <a:t>Modeling</a:t>
                      </a:r>
                    </a:p>
                  </a:txBody>
                  <a:tcPr marL="91212" marR="91212" marT="45606" marB="45606" anchor="ctr">
                    <a:lnL>
                      <a:noFill/>
                    </a:lnL>
                    <a:lnR>
                      <a:noFill/>
                    </a:lnR>
                    <a:lnT>
                      <a:noFill/>
                    </a:lnT>
                    <a:lnB>
                      <a:noFill/>
                    </a:lnB>
                    <a:noFill/>
                  </a:tcPr>
                </a:tc>
                <a:tc>
                  <a:txBody>
                    <a:bodyPr/>
                    <a:lstStyle/>
                    <a:p>
                      <a:pPr>
                        <a:buNone/>
                      </a:pPr>
                      <a:r>
                        <a:rPr lang="en-US" sz="1800" b="0" dirty="0"/>
                        <a:t>Forecasts are univariate (ARIMA only) external drivers not included.</a:t>
                      </a:r>
                    </a:p>
                  </a:txBody>
                  <a:tcPr marL="91212" marR="91212" marT="45606" marB="45606" anchor="ctr">
                    <a:lnL>
                      <a:noFill/>
                    </a:lnL>
                    <a:lnR>
                      <a:noFill/>
                    </a:lnR>
                    <a:lnT>
                      <a:noFill/>
                    </a:lnT>
                    <a:lnB>
                      <a:noFill/>
                    </a:lnB>
                    <a:noFill/>
                  </a:tcPr>
                </a:tc>
                <a:extLst>
                  <a:ext uri="{0D108BD9-81ED-4DB2-BD59-A6C34878D82A}">
                    <a16:rowId xmlns:a16="http://schemas.microsoft.com/office/drawing/2014/main" val="553235252"/>
                  </a:ext>
                </a:extLst>
              </a:tr>
              <a:tr h="638486">
                <a:tc>
                  <a:txBody>
                    <a:bodyPr/>
                    <a:lstStyle/>
                    <a:p>
                      <a:pPr>
                        <a:buNone/>
                      </a:pPr>
                      <a:r>
                        <a:rPr lang="en-US" sz="1800"/>
                        <a:t>Decision Metrics</a:t>
                      </a:r>
                    </a:p>
                  </a:txBody>
                  <a:tcPr marL="91212" marR="91212" marT="45606" marB="45606" anchor="ctr">
                    <a:lnL>
                      <a:noFill/>
                    </a:lnL>
                    <a:lnR>
                      <a:noFill/>
                    </a:lnR>
                    <a:lnT>
                      <a:noFill/>
                    </a:lnT>
                    <a:lnB>
                      <a:noFill/>
                    </a:lnB>
                    <a:noFill/>
                  </a:tcPr>
                </a:tc>
                <a:tc>
                  <a:txBody>
                    <a:bodyPr/>
                    <a:lstStyle/>
                    <a:p>
                      <a:pPr>
                        <a:buNone/>
                      </a:pPr>
                      <a:r>
                        <a:rPr lang="en-US" sz="1800" b="0"/>
                        <a:t>No ROI, promo effectiveness, or discount elasticity measures yet.</a:t>
                      </a:r>
                    </a:p>
                  </a:txBody>
                  <a:tcPr marL="91212" marR="91212" marT="45606" marB="45606" anchor="ctr">
                    <a:lnL>
                      <a:noFill/>
                    </a:lnL>
                    <a:lnR>
                      <a:noFill/>
                    </a:lnR>
                    <a:lnT>
                      <a:noFill/>
                    </a:lnT>
                    <a:lnB>
                      <a:noFill/>
                    </a:lnB>
                    <a:noFill/>
                  </a:tcPr>
                </a:tc>
                <a:extLst>
                  <a:ext uri="{0D108BD9-81ED-4DB2-BD59-A6C34878D82A}">
                    <a16:rowId xmlns:a16="http://schemas.microsoft.com/office/drawing/2014/main" val="3980186697"/>
                  </a:ext>
                </a:extLst>
              </a:tr>
              <a:tr h="638486">
                <a:tc>
                  <a:txBody>
                    <a:bodyPr/>
                    <a:lstStyle/>
                    <a:p>
                      <a:pPr>
                        <a:buNone/>
                      </a:pPr>
                      <a:r>
                        <a:rPr lang="en-US" sz="1800"/>
                        <a:t>Dashboards</a:t>
                      </a:r>
                    </a:p>
                  </a:txBody>
                  <a:tcPr marL="91212" marR="91212" marT="45606" marB="45606" anchor="ctr">
                    <a:lnL>
                      <a:noFill/>
                    </a:lnL>
                    <a:lnR>
                      <a:noFill/>
                    </a:lnR>
                    <a:lnT>
                      <a:noFill/>
                    </a:lnT>
                    <a:lnB>
                      <a:noFill/>
                    </a:lnB>
                    <a:noFill/>
                  </a:tcPr>
                </a:tc>
                <a:tc>
                  <a:txBody>
                    <a:bodyPr/>
                    <a:lstStyle/>
                    <a:p>
                      <a:pPr>
                        <a:buNone/>
                      </a:pPr>
                      <a:r>
                        <a:rPr lang="en-US" sz="1800" b="0" dirty="0"/>
                        <a:t>Executives lack a fully interactive compare-all products page.</a:t>
                      </a:r>
                    </a:p>
                  </a:txBody>
                  <a:tcPr marL="91212" marR="91212" marT="45606" marB="45606" anchor="ctr">
                    <a:lnL>
                      <a:noFill/>
                    </a:lnL>
                    <a:lnR>
                      <a:noFill/>
                    </a:lnR>
                    <a:lnT>
                      <a:noFill/>
                    </a:lnT>
                    <a:lnB>
                      <a:noFill/>
                    </a:lnB>
                    <a:noFill/>
                  </a:tcPr>
                </a:tc>
                <a:extLst>
                  <a:ext uri="{0D108BD9-81ED-4DB2-BD59-A6C34878D82A}">
                    <a16:rowId xmlns:a16="http://schemas.microsoft.com/office/drawing/2014/main" val="2477795149"/>
                  </a:ext>
                </a:extLst>
              </a:tr>
            </a:tbl>
          </a:graphicData>
        </a:graphic>
      </p:graphicFrame>
    </p:spTree>
    <p:extLst>
      <p:ext uri="{BB962C8B-B14F-4D97-AF65-F5344CB8AC3E}">
        <p14:creationId xmlns:p14="http://schemas.microsoft.com/office/powerpoint/2010/main" val="34328371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6F6E1-093B-45FA-1A1D-E8C154A4A76B}"/>
              </a:ext>
            </a:extLst>
          </p:cNvPr>
          <p:cNvSpPr>
            <a:spLocks noGrp="1"/>
          </p:cNvSpPr>
          <p:nvPr>
            <p:ph type="title"/>
          </p:nvPr>
        </p:nvSpPr>
        <p:spPr/>
        <p:txBody>
          <a:bodyPr/>
          <a:lstStyle/>
          <a:p>
            <a:r>
              <a:rPr lang="en-US" dirty="0"/>
              <a:t>Suggested Improvements</a:t>
            </a:r>
          </a:p>
        </p:txBody>
      </p:sp>
      <p:graphicFrame>
        <p:nvGraphicFramePr>
          <p:cNvPr id="4" name="Content Placeholder 3">
            <a:extLst>
              <a:ext uri="{FF2B5EF4-FFF2-40B4-BE49-F238E27FC236}">
                <a16:creationId xmlns:a16="http://schemas.microsoft.com/office/drawing/2014/main" id="{FAE694EE-0FEB-FEB5-81AD-D7FA4EC6ADAE}"/>
              </a:ext>
            </a:extLst>
          </p:cNvPr>
          <p:cNvGraphicFramePr>
            <a:graphicFrameLocks noGrp="1"/>
          </p:cNvGraphicFramePr>
          <p:nvPr>
            <p:ph idx="1"/>
            <p:extLst>
              <p:ext uri="{D42A27DB-BD31-4B8C-83A1-F6EECF244321}">
                <p14:modId xmlns:p14="http://schemas.microsoft.com/office/powerpoint/2010/main" val="1816821818"/>
              </p:ext>
            </p:extLst>
          </p:nvPr>
        </p:nvGraphicFramePr>
        <p:xfrm>
          <a:off x="1103313" y="2093119"/>
          <a:ext cx="8947150" cy="4389120"/>
        </p:xfrm>
        <a:graphic>
          <a:graphicData uri="http://schemas.openxmlformats.org/drawingml/2006/table">
            <a:tbl>
              <a:tblPr/>
              <a:tblGrid>
                <a:gridCol w="4473575">
                  <a:extLst>
                    <a:ext uri="{9D8B030D-6E8A-4147-A177-3AD203B41FA5}">
                      <a16:colId xmlns:a16="http://schemas.microsoft.com/office/drawing/2014/main" val="64920425"/>
                    </a:ext>
                  </a:extLst>
                </a:gridCol>
                <a:gridCol w="4473575">
                  <a:extLst>
                    <a:ext uri="{9D8B030D-6E8A-4147-A177-3AD203B41FA5}">
                      <a16:colId xmlns:a16="http://schemas.microsoft.com/office/drawing/2014/main" val="1607292639"/>
                    </a:ext>
                  </a:extLst>
                </a:gridCol>
              </a:tblGrid>
              <a:tr h="0">
                <a:tc>
                  <a:txBody>
                    <a:bodyPr/>
                    <a:lstStyle/>
                    <a:p>
                      <a:pPr>
                        <a:buNone/>
                      </a:pPr>
                      <a:r>
                        <a:rPr lang="en-US" b="1"/>
                        <a:t>Area</a:t>
                      </a:r>
                      <a:endParaRPr lang="en-US"/>
                    </a:p>
                  </a:txBody>
                  <a:tcPr anchor="ctr">
                    <a:lnL>
                      <a:noFill/>
                    </a:lnL>
                    <a:lnR>
                      <a:noFill/>
                    </a:lnR>
                    <a:lnT>
                      <a:noFill/>
                    </a:lnT>
                    <a:lnB>
                      <a:noFill/>
                    </a:lnB>
                    <a:noFill/>
                  </a:tcPr>
                </a:tc>
                <a:tc>
                  <a:txBody>
                    <a:bodyPr/>
                    <a:lstStyle/>
                    <a:p>
                      <a:pPr>
                        <a:buNone/>
                      </a:pPr>
                      <a:r>
                        <a:rPr lang="en-US" b="1"/>
                        <a:t>Improvement</a:t>
                      </a:r>
                      <a:endParaRPr lang="en-US"/>
                    </a:p>
                  </a:txBody>
                  <a:tcPr anchor="ctr">
                    <a:lnL>
                      <a:noFill/>
                    </a:lnL>
                    <a:lnR>
                      <a:noFill/>
                    </a:lnR>
                    <a:lnT>
                      <a:noFill/>
                    </a:lnT>
                    <a:lnB>
                      <a:noFill/>
                    </a:lnB>
                    <a:noFill/>
                  </a:tcPr>
                </a:tc>
                <a:extLst>
                  <a:ext uri="{0D108BD9-81ED-4DB2-BD59-A6C34878D82A}">
                    <a16:rowId xmlns:a16="http://schemas.microsoft.com/office/drawing/2014/main" val="3914059577"/>
                  </a:ext>
                </a:extLst>
              </a:tr>
              <a:tr h="0">
                <a:tc>
                  <a:txBody>
                    <a:bodyPr/>
                    <a:lstStyle/>
                    <a:p>
                      <a:pPr>
                        <a:buNone/>
                      </a:pPr>
                      <a:r>
                        <a:rPr lang="en-US" dirty="0"/>
                        <a:t>Data &amp; Features</a:t>
                      </a:r>
                    </a:p>
                  </a:txBody>
                  <a:tcPr anchor="ctr">
                    <a:lnL>
                      <a:noFill/>
                    </a:lnL>
                    <a:lnR>
                      <a:noFill/>
                    </a:lnR>
                    <a:lnT>
                      <a:noFill/>
                    </a:lnT>
                    <a:lnB>
                      <a:noFill/>
                    </a:lnB>
                    <a:noFill/>
                  </a:tcPr>
                </a:tc>
                <a:tc>
                  <a:txBody>
                    <a:bodyPr/>
                    <a:lstStyle/>
                    <a:p>
                      <a:pPr>
                        <a:buNone/>
                      </a:pPr>
                      <a:r>
                        <a:rPr lang="en-US" dirty="0"/>
                        <a:t>Extend dataset to 24+ months add more products to compare.</a:t>
                      </a:r>
                    </a:p>
                  </a:txBody>
                  <a:tcPr anchor="ctr">
                    <a:lnL>
                      <a:noFill/>
                    </a:lnL>
                    <a:lnR>
                      <a:noFill/>
                    </a:lnR>
                    <a:lnT>
                      <a:noFill/>
                    </a:lnT>
                    <a:lnB>
                      <a:noFill/>
                    </a:lnB>
                    <a:noFill/>
                  </a:tcPr>
                </a:tc>
                <a:extLst>
                  <a:ext uri="{0D108BD9-81ED-4DB2-BD59-A6C34878D82A}">
                    <a16:rowId xmlns:a16="http://schemas.microsoft.com/office/drawing/2014/main" val="1688213823"/>
                  </a:ext>
                </a:extLst>
              </a:tr>
              <a:tr h="0">
                <a:tc>
                  <a:txBody>
                    <a:bodyPr/>
                    <a:lstStyle/>
                    <a:p>
                      <a:pPr>
                        <a:buNone/>
                      </a:pPr>
                      <a:r>
                        <a:rPr lang="en-US"/>
                        <a:t>Automation</a:t>
                      </a:r>
                    </a:p>
                  </a:txBody>
                  <a:tcPr anchor="ctr">
                    <a:lnL>
                      <a:noFill/>
                    </a:lnL>
                    <a:lnR>
                      <a:noFill/>
                    </a:lnR>
                    <a:lnT>
                      <a:noFill/>
                    </a:lnT>
                    <a:lnB>
                      <a:noFill/>
                    </a:lnB>
                    <a:noFill/>
                  </a:tcPr>
                </a:tc>
                <a:tc>
                  <a:txBody>
                    <a:bodyPr/>
                    <a:lstStyle/>
                    <a:p>
                      <a:pPr>
                        <a:buNone/>
                      </a:pPr>
                      <a:r>
                        <a:rPr lang="en-US"/>
                        <a:t>Use Helium 10 API or scheduled refresh to update dashboards.</a:t>
                      </a:r>
                    </a:p>
                  </a:txBody>
                  <a:tcPr anchor="ctr">
                    <a:lnL>
                      <a:noFill/>
                    </a:lnL>
                    <a:lnR>
                      <a:noFill/>
                    </a:lnR>
                    <a:lnT>
                      <a:noFill/>
                    </a:lnT>
                    <a:lnB>
                      <a:noFill/>
                    </a:lnB>
                    <a:noFill/>
                  </a:tcPr>
                </a:tc>
                <a:extLst>
                  <a:ext uri="{0D108BD9-81ED-4DB2-BD59-A6C34878D82A}">
                    <a16:rowId xmlns:a16="http://schemas.microsoft.com/office/drawing/2014/main" val="1472406560"/>
                  </a:ext>
                </a:extLst>
              </a:tr>
              <a:tr h="0">
                <a:tc>
                  <a:txBody>
                    <a:bodyPr/>
                    <a:lstStyle/>
                    <a:p>
                      <a:pPr>
                        <a:buNone/>
                      </a:pPr>
                      <a:r>
                        <a:rPr lang="en-US"/>
                        <a:t>Modeling</a:t>
                      </a:r>
                    </a:p>
                  </a:txBody>
                  <a:tcPr anchor="ctr">
                    <a:lnL>
                      <a:noFill/>
                    </a:lnL>
                    <a:lnR>
                      <a:noFill/>
                    </a:lnR>
                    <a:lnT>
                      <a:noFill/>
                    </a:lnT>
                    <a:lnB>
                      <a:noFill/>
                    </a:lnB>
                    <a:noFill/>
                  </a:tcPr>
                </a:tc>
                <a:tc>
                  <a:txBody>
                    <a:bodyPr/>
                    <a:lstStyle/>
                    <a:p>
                      <a:pPr>
                        <a:buNone/>
                      </a:pPr>
                      <a:r>
                        <a:rPr lang="en-US" dirty="0"/>
                        <a:t>Add multivariate forecasting (consider ads, reviews, competitors).(better </a:t>
                      </a:r>
                      <a:r>
                        <a:rPr lang="en-US" sz="1800" b="0" dirty="0"/>
                        <a:t>accuracy</a:t>
                      </a:r>
                      <a:r>
                        <a:rPr lang="en-US" dirty="0"/>
                        <a:t>)</a:t>
                      </a:r>
                    </a:p>
                  </a:txBody>
                  <a:tcPr anchor="ctr">
                    <a:lnL>
                      <a:noFill/>
                    </a:lnL>
                    <a:lnR>
                      <a:noFill/>
                    </a:lnR>
                    <a:lnT>
                      <a:noFill/>
                    </a:lnT>
                    <a:lnB>
                      <a:noFill/>
                    </a:lnB>
                    <a:noFill/>
                  </a:tcPr>
                </a:tc>
                <a:extLst>
                  <a:ext uri="{0D108BD9-81ED-4DB2-BD59-A6C34878D82A}">
                    <a16:rowId xmlns:a16="http://schemas.microsoft.com/office/drawing/2014/main" val="518288100"/>
                  </a:ext>
                </a:extLst>
              </a:tr>
              <a:tr h="0">
                <a:tc>
                  <a:txBody>
                    <a:bodyPr/>
                    <a:lstStyle/>
                    <a:p>
                      <a:pPr>
                        <a:buNone/>
                      </a:pPr>
                      <a:r>
                        <a:rPr lang="en-US"/>
                        <a:t>Dashboards</a:t>
                      </a:r>
                    </a:p>
                  </a:txBody>
                  <a:tcPr anchor="ctr">
                    <a:lnL>
                      <a:noFill/>
                    </a:lnL>
                    <a:lnR>
                      <a:noFill/>
                    </a:lnR>
                    <a:lnT>
                      <a:noFill/>
                    </a:lnT>
                    <a:lnB>
                      <a:noFill/>
                    </a:lnB>
                    <a:noFill/>
                  </a:tcPr>
                </a:tc>
                <a:tc>
                  <a:txBody>
                    <a:bodyPr/>
                    <a:lstStyle/>
                    <a:p>
                      <a:pPr>
                        <a:buNone/>
                      </a:pPr>
                      <a:r>
                        <a:rPr lang="en-US" dirty="0"/>
                        <a:t>Add executive comparison view include ROI and discount elasticity KPIs.</a:t>
                      </a:r>
                    </a:p>
                  </a:txBody>
                  <a:tcPr anchor="ctr">
                    <a:lnL>
                      <a:noFill/>
                    </a:lnL>
                    <a:lnR>
                      <a:noFill/>
                    </a:lnR>
                    <a:lnT>
                      <a:noFill/>
                    </a:lnT>
                    <a:lnB>
                      <a:noFill/>
                    </a:lnB>
                    <a:noFill/>
                  </a:tcPr>
                </a:tc>
                <a:extLst>
                  <a:ext uri="{0D108BD9-81ED-4DB2-BD59-A6C34878D82A}">
                    <a16:rowId xmlns:a16="http://schemas.microsoft.com/office/drawing/2014/main" val="1805235841"/>
                  </a:ext>
                </a:extLst>
              </a:tr>
              <a:tr h="0">
                <a:tc>
                  <a:txBody>
                    <a:bodyPr/>
                    <a:lstStyle/>
                    <a:p>
                      <a:pPr>
                        <a:buNone/>
                      </a:pPr>
                      <a:r>
                        <a:rPr lang="en-US"/>
                        <a:t>Governance</a:t>
                      </a:r>
                    </a:p>
                  </a:txBody>
                  <a:tcPr anchor="ctr">
                    <a:lnL>
                      <a:noFill/>
                    </a:lnL>
                    <a:lnR>
                      <a:noFill/>
                    </a:lnR>
                    <a:lnT>
                      <a:noFill/>
                    </a:lnT>
                    <a:lnB>
                      <a:noFill/>
                    </a:lnB>
                    <a:noFill/>
                  </a:tcPr>
                </a:tc>
                <a:tc>
                  <a:txBody>
                    <a:bodyPr/>
                    <a:lstStyle/>
                    <a:p>
                      <a:pPr>
                        <a:buNone/>
                      </a:pPr>
                      <a:r>
                        <a:rPr lang="en-US" dirty="0"/>
                        <a:t>Apply role-based access, version control, and secure dashboard sharing.</a:t>
                      </a:r>
                    </a:p>
                  </a:txBody>
                  <a:tcPr anchor="ctr">
                    <a:lnL>
                      <a:noFill/>
                    </a:lnL>
                    <a:lnR>
                      <a:noFill/>
                    </a:lnR>
                    <a:lnT>
                      <a:noFill/>
                    </a:lnT>
                    <a:lnB>
                      <a:noFill/>
                    </a:lnB>
                    <a:noFill/>
                  </a:tcPr>
                </a:tc>
                <a:extLst>
                  <a:ext uri="{0D108BD9-81ED-4DB2-BD59-A6C34878D82A}">
                    <a16:rowId xmlns:a16="http://schemas.microsoft.com/office/drawing/2014/main" val="2990197631"/>
                  </a:ext>
                </a:extLst>
              </a:tr>
            </a:tbl>
          </a:graphicData>
        </a:graphic>
      </p:graphicFrame>
    </p:spTree>
    <p:extLst>
      <p:ext uri="{BB962C8B-B14F-4D97-AF65-F5344CB8AC3E}">
        <p14:creationId xmlns:p14="http://schemas.microsoft.com/office/powerpoint/2010/main" val="39471414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A2EEF-F95E-B881-3CCB-BA0CAB0C5B67}"/>
              </a:ext>
            </a:extLst>
          </p:cNvPr>
          <p:cNvSpPr>
            <a:spLocks noGrp="1"/>
          </p:cNvSpPr>
          <p:nvPr>
            <p:ph type="title"/>
          </p:nvPr>
        </p:nvSpPr>
        <p:spPr/>
        <p:txBody>
          <a:bodyPr/>
          <a:lstStyle/>
          <a:p>
            <a:r>
              <a:rPr lang="en-US" dirty="0"/>
              <a:t>Social, Legal, and Ethical Implications</a:t>
            </a:r>
          </a:p>
        </p:txBody>
      </p:sp>
      <p:sp>
        <p:nvSpPr>
          <p:cNvPr id="3" name="Content Placeholder 2">
            <a:extLst>
              <a:ext uri="{FF2B5EF4-FFF2-40B4-BE49-F238E27FC236}">
                <a16:creationId xmlns:a16="http://schemas.microsoft.com/office/drawing/2014/main" id="{3ADDB5F2-6AA7-0022-CA1A-C26965CA2009}"/>
              </a:ext>
            </a:extLst>
          </p:cNvPr>
          <p:cNvSpPr>
            <a:spLocks noGrp="1"/>
          </p:cNvSpPr>
          <p:nvPr>
            <p:ph idx="1"/>
          </p:nvPr>
        </p:nvSpPr>
        <p:spPr/>
        <p:txBody>
          <a:bodyPr>
            <a:normAutofit fontScale="85000" lnSpcReduction="10000"/>
          </a:bodyPr>
          <a:lstStyle/>
          <a:p>
            <a:r>
              <a:rPr lang="en-US" dirty="0"/>
              <a:t>Legal Implications</a:t>
            </a:r>
          </a:p>
          <a:p>
            <a:r>
              <a:rPr lang="en-US" b="1" dirty="0"/>
              <a:t>Data Ownership &amp; Terms of Use</a:t>
            </a:r>
            <a:br>
              <a:rPr lang="en-US" dirty="0"/>
            </a:br>
            <a:r>
              <a:rPr lang="en-US" dirty="0"/>
              <a:t>The data I used came from Amazon through Helium 10. Technically, Amazon owns this data, and we’re only allowed to use it under their terms of service. Since my project only works with aggregated sales rank and prices (and not personal customer data), it stays safe and within the rules.</a:t>
            </a:r>
          </a:p>
          <a:p>
            <a:r>
              <a:rPr lang="en-US" b="1" dirty="0"/>
              <a:t>Intellectual Property</a:t>
            </a:r>
            <a:br>
              <a:rPr lang="en-US" dirty="0"/>
            </a:br>
            <a:r>
              <a:rPr lang="en-US" dirty="0"/>
              <a:t>Things like product images, logos, and brand content are protected by Razer and Amazon. In my project, I only worked with numbers (rank, price, sales trends), so I didn’t copy or misuse any of their intellectual property.</a:t>
            </a:r>
          </a:p>
          <a:p>
            <a:r>
              <a:rPr lang="en-US" b="1" dirty="0"/>
              <a:t>Data Compliance</a:t>
            </a:r>
            <a:br>
              <a:rPr lang="en-US" dirty="0"/>
            </a:br>
            <a:r>
              <a:rPr lang="en-US" dirty="0"/>
              <a:t>Because I didn’t deal with customer names, addresses, or sensitive data, I didn’t have to worry about laws like GDPR. But if future work used reviews or customer feedback, then making sure the data is anonymized would be very important.</a:t>
            </a:r>
          </a:p>
        </p:txBody>
      </p:sp>
    </p:spTree>
    <p:extLst>
      <p:ext uri="{BB962C8B-B14F-4D97-AF65-F5344CB8AC3E}">
        <p14:creationId xmlns:p14="http://schemas.microsoft.com/office/powerpoint/2010/main" val="11611244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6826B-57DA-F4AD-620A-68408088CDFB}"/>
              </a:ext>
            </a:extLst>
          </p:cNvPr>
          <p:cNvSpPr>
            <a:spLocks noGrp="1"/>
          </p:cNvSpPr>
          <p:nvPr>
            <p:ph type="title"/>
          </p:nvPr>
        </p:nvSpPr>
        <p:spPr/>
        <p:txBody>
          <a:bodyPr/>
          <a:lstStyle/>
          <a:p>
            <a:r>
              <a:rPr lang="en-US" dirty="0"/>
              <a:t>Social, Legal, and Ethical Implications</a:t>
            </a:r>
          </a:p>
        </p:txBody>
      </p:sp>
      <p:sp>
        <p:nvSpPr>
          <p:cNvPr id="3" name="Content Placeholder 2">
            <a:extLst>
              <a:ext uri="{FF2B5EF4-FFF2-40B4-BE49-F238E27FC236}">
                <a16:creationId xmlns:a16="http://schemas.microsoft.com/office/drawing/2014/main" id="{6AE9ED85-E5EC-A4A7-AA7A-809F22DE28D1}"/>
              </a:ext>
            </a:extLst>
          </p:cNvPr>
          <p:cNvSpPr>
            <a:spLocks noGrp="1"/>
          </p:cNvSpPr>
          <p:nvPr>
            <p:ph idx="1"/>
          </p:nvPr>
        </p:nvSpPr>
        <p:spPr/>
        <p:txBody>
          <a:bodyPr>
            <a:normAutofit fontScale="92500" lnSpcReduction="10000"/>
          </a:bodyPr>
          <a:lstStyle/>
          <a:p>
            <a:r>
              <a:rPr lang="en-US" b="1" dirty="0"/>
              <a:t>Social Implications</a:t>
            </a:r>
          </a:p>
          <a:p>
            <a:r>
              <a:rPr lang="en-US" b="1" dirty="0"/>
              <a:t>Consumer Impact</a:t>
            </a:r>
            <a:br>
              <a:rPr lang="en-US" dirty="0"/>
            </a:br>
            <a:r>
              <a:rPr lang="en-US" dirty="0"/>
              <a:t>Using data can help companies give better prices and plan promotions, which is good for buyers. But if it’s overused, it can also train customers to just wait for discounts instead of buying normally.</a:t>
            </a:r>
          </a:p>
          <a:p>
            <a:r>
              <a:rPr lang="en-US" b="1" dirty="0"/>
              <a:t>Market Fairness</a:t>
            </a:r>
            <a:br>
              <a:rPr lang="en-US" dirty="0"/>
            </a:br>
            <a:r>
              <a:rPr lang="en-US" dirty="0"/>
              <a:t>Bigger companies that use advanced tools can get ahead faster, while smaller sellers may struggle to keep up. It’s important to use the insights fairly so the market doesn’t become one-sided.</a:t>
            </a:r>
          </a:p>
          <a:p>
            <a:r>
              <a:rPr lang="en-US" b="1" dirty="0"/>
              <a:t>Accessibility</a:t>
            </a:r>
            <a:br>
              <a:rPr lang="en-US" dirty="0"/>
            </a:br>
            <a:r>
              <a:rPr lang="en-US" dirty="0"/>
              <a:t>The dashboards I built aren’t just for top management; they can also help sales and marketing teams make decisions. This way, the benefits of the analysis are shared across the company, not just kept at the top.</a:t>
            </a:r>
          </a:p>
        </p:txBody>
      </p:sp>
    </p:spTree>
    <p:extLst>
      <p:ext uri="{BB962C8B-B14F-4D97-AF65-F5344CB8AC3E}">
        <p14:creationId xmlns:p14="http://schemas.microsoft.com/office/powerpoint/2010/main" val="40964198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E4294-2928-EDB0-ACAB-3CCC09490E9B}"/>
              </a:ext>
            </a:extLst>
          </p:cNvPr>
          <p:cNvSpPr>
            <a:spLocks noGrp="1"/>
          </p:cNvSpPr>
          <p:nvPr>
            <p:ph type="title"/>
          </p:nvPr>
        </p:nvSpPr>
        <p:spPr/>
        <p:txBody>
          <a:bodyPr/>
          <a:lstStyle/>
          <a:p>
            <a:r>
              <a:rPr lang="en-US" dirty="0"/>
              <a:t>Social, Legal, and Ethical Implications</a:t>
            </a:r>
          </a:p>
        </p:txBody>
      </p:sp>
      <p:sp>
        <p:nvSpPr>
          <p:cNvPr id="3" name="Content Placeholder 2">
            <a:extLst>
              <a:ext uri="{FF2B5EF4-FFF2-40B4-BE49-F238E27FC236}">
                <a16:creationId xmlns:a16="http://schemas.microsoft.com/office/drawing/2014/main" id="{CA653679-EC8A-6ABE-FD8D-9DBE712E3229}"/>
              </a:ext>
            </a:extLst>
          </p:cNvPr>
          <p:cNvSpPr>
            <a:spLocks noGrp="1"/>
          </p:cNvSpPr>
          <p:nvPr>
            <p:ph idx="1"/>
          </p:nvPr>
        </p:nvSpPr>
        <p:spPr/>
        <p:txBody>
          <a:bodyPr>
            <a:normAutofit fontScale="92500" lnSpcReduction="20000"/>
          </a:bodyPr>
          <a:lstStyle/>
          <a:p>
            <a:r>
              <a:rPr lang="en-US" b="1" dirty="0"/>
              <a:t>Ethical Implications</a:t>
            </a:r>
          </a:p>
          <a:p>
            <a:r>
              <a:rPr lang="en-US" b="1" dirty="0"/>
              <a:t>Transparency</a:t>
            </a:r>
            <a:br>
              <a:rPr lang="en-US" dirty="0"/>
            </a:br>
            <a:r>
              <a:rPr lang="en-US" dirty="0"/>
              <a:t>It’s important that decisions made with the data are clear to everyone. For example, if marketing is told to run a campaign in October, they should know why the data suggested that, instead of blindly trusting the system.</a:t>
            </a:r>
          </a:p>
          <a:p>
            <a:r>
              <a:rPr lang="en-US" b="1" dirty="0"/>
              <a:t>Data Bias</a:t>
            </a:r>
            <a:br>
              <a:rPr lang="en-US" dirty="0"/>
            </a:br>
            <a:r>
              <a:rPr lang="en-US" dirty="0"/>
              <a:t>Sales rank data usually favors products that are already popular. If the company only follows this, it might ignore newer or less-known products, which creates bias in decisions.</a:t>
            </a:r>
          </a:p>
          <a:p>
            <a:r>
              <a:rPr lang="en-US" b="1" dirty="0"/>
              <a:t>Responsible Forecasting</a:t>
            </a:r>
            <a:br>
              <a:rPr lang="en-US" dirty="0"/>
            </a:br>
            <a:r>
              <a:rPr lang="en-US" dirty="0"/>
              <a:t>Forecasts are predictions, not 100% facts. If managers rely too much on them without understanding their limits, it could lead to bad decisions. That’s why it’s better to show forecasts with confidence ranges and explain the risks.</a:t>
            </a:r>
          </a:p>
          <a:p>
            <a:endParaRPr lang="en-US" dirty="0"/>
          </a:p>
        </p:txBody>
      </p:sp>
    </p:spTree>
    <p:extLst>
      <p:ext uri="{BB962C8B-B14F-4D97-AF65-F5344CB8AC3E}">
        <p14:creationId xmlns:p14="http://schemas.microsoft.com/office/powerpoint/2010/main" val="38877932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21B33-BF13-5423-54A0-D0EA69022E05}"/>
              </a:ext>
            </a:extLst>
          </p:cNvPr>
          <p:cNvSpPr>
            <a:spLocks noGrp="1"/>
          </p:cNvSpPr>
          <p:nvPr>
            <p:ph type="title"/>
          </p:nvPr>
        </p:nvSpPr>
        <p:spPr/>
        <p:txBody>
          <a:bodyPr/>
          <a:lstStyle/>
          <a:p>
            <a:r>
              <a:rPr lang="en-US" dirty="0"/>
              <a:t>Data Security Threats and Measures</a:t>
            </a:r>
          </a:p>
        </p:txBody>
      </p:sp>
      <p:sp>
        <p:nvSpPr>
          <p:cNvPr id="3" name="Content Placeholder 2">
            <a:extLst>
              <a:ext uri="{FF2B5EF4-FFF2-40B4-BE49-F238E27FC236}">
                <a16:creationId xmlns:a16="http://schemas.microsoft.com/office/drawing/2014/main" id="{D67A052D-ABDC-3B34-3B3D-54CC54B82486}"/>
              </a:ext>
            </a:extLst>
          </p:cNvPr>
          <p:cNvSpPr>
            <a:spLocks noGrp="1"/>
          </p:cNvSpPr>
          <p:nvPr>
            <p:ph idx="1"/>
          </p:nvPr>
        </p:nvSpPr>
        <p:spPr/>
        <p:txBody>
          <a:bodyPr>
            <a:normAutofit lnSpcReduction="10000"/>
          </a:bodyPr>
          <a:lstStyle/>
          <a:p>
            <a:r>
              <a:rPr lang="en-US" b="1" dirty="0"/>
              <a:t>Data Security Threats</a:t>
            </a:r>
            <a:endParaRPr lang="en-US" dirty="0"/>
          </a:p>
          <a:p>
            <a:r>
              <a:rPr lang="en-US" dirty="0"/>
              <a:t>One risk is unauthorized access. Since the data is stored in Excel files and shared dashboards, someone without permission could access the files if they’re not protected.</a:t>
            </a:r>
          </a:p>
          <a:p>
            <a:r>
              <a:rPr lang="en-US" dirty="0"/>
              <a:t>Another risk is data leakage. For example, if a file is sent through email or stored on an unsecured drive, it could be copied or misused.</a:t>
            </a:r>
          </a:p>
          <a:p>
            <a:r>
              <a:rPr lang="en-US" dirty="0"/>
              <a:t>There is also the chance of data loss or corruption, especially when everything is refreshed manually. If the raw data files or Power BI reports are deleted or corrupted, rebuilding them would be difficult.</a:t>
            </a:r>
          </a:p>
          <a:p>
            <a:r>
              <a:rPr lang="en-US" dirty="0"/>
              <a:t>Finally, tampering or manipulation is a risk. If someone edits the Excel sheets or dashboard measures without proper controls, it could lead to wrong insights and bad business decisions.</a:t>
            </a:r>
          </a:p>
        </p:txBody>
      </p:sp>
    </p:spTree>
    <p:extLst>
      <p:ext uri="{BB962C8B-B14F-4D97-AF65-F5344CB8AC3E}">
        <p14:creationId xmlns:p14="http://schemas.microsoft.com/office/powerpoint/2010/main" val="18417902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E9F86-3A9E-247F-3687-C45DD5CE9EA9}"/>
              </a:ext>
            </a:extLst>
          </p:cNvPr>
          <p:cNvSpPr>
            <a:spLocks noGrp="1"/>
          </p:cNvSpPr>
          <p:nvPr>
            <p:ph type="title"/>
          </p:nvPr>
        </p:nvSpPr>
        <p:spPr/>
        <p:txBody>
          <a:bodyPr/>
          <a:lstStyle/>
          <a:p>
            <a:r>
              <a:rPr lang="en-US" dirty="0"/>
              <a:t>Data Security Threats and Measures</a:t>
            </a:r>
          </a:p>
        </p:txBody>
      </p:sp>
      <p:sp>
        <p:nvSpPr>
          <p:cNvPr id="3" name="Content Placeholder 2">
            <a:extLst>
              <a:ext uri="{FF2B5EF4-FFF2-40B4-BE49-F238E27FC236}">
                <a16:creationId xmlns:a16="http://schemas.microsoft.com/office/drawing/2014/main" id="{7C2D26F2-92FA-C09A-51FA-52D87072CB4D}"/>
              </a:ext>
            </a:extLst>
          </p:cNvPr>
          <p:cNvSpPr>
            <a:spLocks noGrp="1"/>
          </p:cNvSpPr>
          <p:nvPr>
            <p:ph idx="1"/>
          </p:nvPr>
        </p:nvSpPr>
        <p:spPr/>
        <p:txBody>
          <a:bodyPr>
            <a:normAutofit fontScale="92500" lnSpcReduction="20000"/>
          </a:bodyPr>
          <a:lstStyle/>
          <a:p>
            <a:r>
              <a:rPr lang="en-US" b="1" dirty="0"/>
              <a:t>Security Measures</a:t>
            </a:r>
            <a:endParaRPr lang="en-US" dirty="0"/>
          </a:p>
          <a:p>
            <a:r>
              <a:rPr lang="en-US" dirty="0"/>
              <a:t>The first step is role-based access. Only the right people (e.g., marketing, sales managers, executives) should have access to the dashboards or raw data. This prevents misuse.</a:t>
            </a:r>
          </a:p>
          <a:p>
            <a:r>
              <a:rPr lang="en-US" dirty="0"/>
              <a:t>Files should be encrypted and password-protected, especially if they are stored locally or shared online. Using a secure cloud system like OneDrive or SharePoint can also help.</a:t>
            </a:r>
          </a:p>
          <a:p>
            <a:r>
              <a:rPr lang="en-US" dirty="0"/>
              <a:t>To prevent loss, regular backups of the raw data, cleaned data, and PBIX files should be stored in a safe location.</a:t>
            </a:r>
          </a:p>
          <a:p>
            <a:r>
              <a:rPr lang="en-US" dirty="0"/>
              <a:t>For trust and transparency, changes should be version controlled. That way, if something is edited, the team can see who made the change and when.</a:t>
            </a:r>
          </a:p>
          <a:p>
            <a:r>
              <a:rPr lang="en-US" dirty="0"/>
              <a:t>Finally, secure refresh and API connections (instead of manual CSV downloads) would reduce the risk of tampered or outdated data.</a:t>
            </a:r>
          </a:p>
        </p:txBody>
      </p:sp>
    </p:spTree>
    <p:extLst>
      <p:ext uri="{BB962C8B-B14F-4D97-AF65-F5344CB8AC3E}">
        <p14:creationId xmlns:p14="http://schemas.microsoft.com/office/powerpoint/2010/main" val="25626337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91CDA-3811-A141-792F-DB7B233E3783}"/>
              </a:ext>
            </a:extLst>
          </p:cNvPr>
          <p:cNvSpPr>
            <a:spLocks noGrp="1"/>
          </p:cNvSpPr>
          <p:nvPr>
            <p:ph type="title"/>
          </p:nvPr>
        </p:nvSpPr>
        <p:spPr/>
        <p:txBody>
          <a:bodyPr/>
          <a:lstStyle/>
          <a:p>
            <a:r>
              <a:rPr lang="en-US" dirty="0"/>
              <a:t>Data Security Threats and Measures</a:t>
            </a:r>
          </a:p>
        </p:txBody>
      </p:sp>
      <p:sp>
        <p:nvSpPr>
          <p:cNvPr id="3" name="Content Placeholder 2">
            <a:extLst>
              <a:ext uri="{FF2B5EF4-FFF2-40B4-BE49-F238E27FC236}">
                <a16:creationId xmlns:a16="http://schemas.microsoft.com/office/drawing/2014/main" id="{667A0029-F531-16C4-5CD3-0FB26652B369}"/>
              </a:ext>
            </a:extLst>
          </p:cNvPr>
          <p:cNvSpPr>
            <a:spLocks noGrp="1"/>
          </p:cNvSpPr>
          <p:nvPr>
            <p:ph idx="1"/>
          </p:nvPr>
        </p:nvSpPr>
        <p:spPr/>
        <p:txBody>
          <a:bodyPr/>
          <a:lstStyle/>
          <a:p>
            <a:r>
              <a:rPr lang="en-US" b="1" dirty="0"/>
              <a:t>Maintaining Trust</a:t>
            </a:r>
            <a:br>
              <a:rPr lang="en-US" dirty="0"/>
            </a:br>
            <a:r>
              <a:rPr lang="en-US" dirty="0"/>
              <a:t>By putting these measures in place, the company makes sure the data is accurate, safe, and reliable. This builds trust not just with managers who use the dashboards but also with executives who rely on the forecasts for strategic decisions.</a:t>
            </a:r>
          </a:p>
        </p:txBody>
      </p:sp>
    </p:spTree>
    <p:extLst>
      <p:ext uri="{BB962C8B-B14F-4D97-AF65-F5344CB8AC3E}">
        <p14:creationId xmlns:p14="http://schemas.microsoft.com/office/powerpoint/2010/main" val="22285644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4D06F-1EE2-1869-A364-010D90136A46}"/>
              </a:ext>
            </a:extLst>
          </p:cNvPr>
          <p:cNvSpPr>
            <a:spLocks noGrp="1"/>
          </p:cNvSpPr>
          <p:nvPr>
            <p:ph type="title"/>
          </p:nvPr>
        </p:nvSpPr>
        <p:spPr/>
        <p:txBody>
          <a:bodyPr/>
          <a:lstStyle/>
          <a:p>
            <a:r>
              <a:rPr lang="en-US" dirty="0"/>
              <a:t>Razer Data Breach Case Study</a:t>
            </a:r>
          </a:p>
        </p:txBody>
      </p:sp>
      <p:sp>
        <p:nvSpPr>
          <p:cNvPr id="3" name="Content Placeholder 2">
            <a:extLst>
              <a:ext uri="{FF2B5EF4-FFF2-40B4-BE49-F238E27FC236}">
                <a16:creationId xmlns:a16="http://schemas.microsoft.com/office/drawing/2014/main" id="{0159990C-159A-D7B5-5EA3-8F2ACD0EA2BA}"/>
              </a:ext>
            </a:extLst>
          </p:cNvPr>
          <p:cNvSpPr>
            <a:spLocks noGrp="1"/>
          </p:cNvSpPr>
          <p:nvPr>
            <p:ph idx="1"/>
          </p:nvPr>
        </p:nvSpPr>
        <p:spPr/>
        <p:txBody>
          <a:bodyPr/>
          <a:lstStyle/>
          <a:p>
            <a:r>
              <a:rPr lang="en-US" dirty="0"/>
              <a:t>Company: razer</a:t>
            </a:r>
            <a:br>
              <a:rPr lang="en-US" dirty="0"/>
            </a:br>
            <a:r>
              <a:rPr lang="en-US" dirty="0"/>
              <a:t>year: 2020</a:t>
            </a:r>
            <a:br>
              <a:rPr lang="en-US" dirty="0"/>
            </a:br>
            <a:r>
              <a:rPr lang="en-US" dirty="0"/>
              <a:t>breach type: unprotected Razer database</a:t>
            </a:r>
          </a:p>
          <a:p>
            <a:endParaRPr lang="en-US" dirty="0"/>
          </a:p>
          <a:p>
            <a:r>
              <a:rPr lang="en-US" dirty="0"/>
              <a:t>In August 2020, security researcher Bob Diachenko discovered an unprotected Razer database that exposed over 100,000 customer records, including names, email addresses, phone numbers, order history, billing, and shipping details though not payment cards</a:t>
            </a:r>
          </a:p>
        </p:txBody>
      </p:sp>
    </p:spTree>
    <p:extLst>
      <p:ext uri="{BB962C8B-B14F-4D97-AF65-F5344CB8AC3E}">
        <p14:creationId xmlns:p14="http://schemas.microsoft.com/office/powerpoint/2010/main" val="5682994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4AAFB-476E-3E4C-5B73-1B3135B1BB90}"/>
              </a:ext>
            </a:extLst>
          </p:cNvPr>
          <p:cNvSpPr>
            <a:spLocks noGrp="1"/>
          </p:cNvSpPr>
          <p:nvPr>
            <p:ph type="title"/>
          </p:nvPr>
        </p:nvSpPr>
        <p:spPr/>
        <p:txBody>
          <a:bodyPr/>
          <a:lstStyle/>
          <a:p>
            <a:r>
              <a:rPr lang="en-US" dirty="0"/>
              <a:t>Business Impact</a:t>
            </a:r>
          </a:p>
        </p:txBody>
      </p:sp>
      <p:sp>
        <p:nvSpPr>
          <p:cNvPr id="3" name="Content Placeholder 2">
            <a:extLst>
              <a:ext uri="{FF2B5EF4-FFF2-40B4-BE49-F238E27FC236}">
                <a16:creationId xmlns:a16="http://schemas.microsoft.com/office/drawing/2014/main" id="{B41786FC-8E4F-9BEB-5A32-32E3047F2890}"/>
              </a:ext>
            </a:extLst>
          </p:cNvPr>
          <p:cNvSpPr>
            <a:spLocks noGrp="1"/>
          </p:cNvSpPr>
          <p:nvPr>
            <p:ph idx="1"/>
          </p:nvPr>
        </p:nvSpPr>
        <p:spPr/>
        <p:txBody>
          <a:bodyPr/>
          <a:lstStyle/>
          <a:p>
            <a:r>
              <a:rPr lang="en-US" dirty="0"/>
              <a:t>These incidents had significant implications:</a:t>
            </a:r>
          </a:p>
          <a:p>
            <a:pPr lvl="1"/>
            <a:r>
              <a:rPr lang="en-US" dirty="0"/>
              <a:t>Personal data exposure risks customer privacy, trust, and brand reputation.</a:t>
            </a:r>
          </a:p>
          <a:p>
            <a:pPr lvl="1"/>
            <a:r>
              <a:rPr lang="en-US" dirty="0"/>
              <a:t>Leak of internal code and credentials threatened Razer’s intellectual property and system security.</a:t>
            </a:r>
          </a:p>
          <a:p>
            <a:r>
              <a:rPr lang="en-US" dirty="0"/>
              <a:t>After the 2020 leak, Razer sued its IT vendor Capgemini and won US$6.5 million in damages, due to the misconfiguration that caused the breach</a:t>
            </a:r>
          </a:p>
          <a:p>
            <a:pPr lvl="1"/>
            <a:endParaRPr lang="en-US" dirty="0"/>
          </a:p>
        </p:txBody>
      </p:sp>
    </p:spTree>
    <p:extLst>
      <p:ext uri="{BB962C8B-B14F-4D97-AF65-F5344CB8AC3E}">
        <p14:creationId xmlns:p14="http://schemas.microsoft.com/office/powerpoint/2010/main" val="35782803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96101-6C81-C047-F87C-28EA36DDBBBC}"/>
              </a:ext>
            </a:extLst>
          </p:cNvPr>
          <p:cNvSpPr>
            <a:spLocks noGrp="1"/>
          </p:cNvSpPr>
          <p:nvPr>
            <p:ph type="title"/>
          </p:nvPr>
        </p:nvSpPr>
        <p:spPr/>
        <p:txBody>
          <a:bodyPr/>
          <a:lstStyle/>
          <a:p>
            <a:r>
              <a:rPr lang="en-US" dirty="0"/>
              <a:t>Recovery Actions</a:t>
            </a:r>
          </a:p>
        </p:txBody>
      </p:sp>
      <p:sp>
        <p:nvSpPr>
          <p:cNvPr id="3" name="Content Placeholder 2">
            <a:extLst>
              <a:ext uri="{FF2B5EF4-FFF2-40B4-BE49-F238E27FC236}">
                <a16:creationId xmlns:a16="http://schemas.microsoft.com/office/drawing/2014/main" id="{61A34DC8-DFF1-00C7-950C-B8963B98B4E4}"/>
              </a:ext>
            </a:extLst>
          </p:cNvPr>
          <p:cNvSpPr>
            <a:spLocks noGrp="1"/>
          </p:cNvSpPr>
          <p:nvPr>
            <p:ph idx="1"/>
          </p:nvPr>
        </p:nvSpPr>
        <p:spPr/>
        <p:txBody>
          <a:bodyPr/>
          <a:lstStyle/>
          <a:p>
            <a:r>
              <a:rPr lang="en-US" dirty="0"/>
              <a:t>Razer immediately secured its systems, reset user sessions, and asked users to reset passwords when the 2023 incident surfaced.</a:t>
            </a:r>
            <a:br>
              <a:rPr lang="en-US" dirty="0"/>
            </a:br>
            <a:endParaRPr lang="en-US" dirty="0"/>
          </a:p>
          <a:p>
            <a:r>
              <a:rPr lang="en-US" dirty="0"/>
              <a:t>The company launched investigations and pledged to report findings to authorities; for the 2020 incident, it changed its server configurations and raised awareness of the vulnerability.</a:t>
            </a:r>
          </a:p>
        </p:txBody>
      </p:sp>
    </p:spTree>
    <p:extLst>
      <p:ext uri="{BB962C8B-B14F-4D97-AF65-F5344CB8AC3E}">
        <p14:creationId xmlns:p14="http://schemas.microsoft.com/office/powerpoint/2010/main" val="6030606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B65BA-2ABD-4A5E-F3F3-A860EC21E934}"/>
              </a:ext>
            </a:extLst>
          </p:cNvPr>
          <p:cNvSpPr>
            <a:spLocks noGrp="1"/>
          </p:cNvSpPr>
          <p:nvPr>
            <p:ph type="title"/>
          </p:nvPr>
        </p:nvSpPr>
        <p:spPr/>
        <p:txBody>
          <a:bodyPr/>
          <a:lstStyle/>
          <a:p>
            <a:r>
              <a:rPr lang="en-US" dirty="0"/>
              <a:t>Lessons learnt </a:t>
            </a:r>
          </a:p>
        </p:txBody>
      </p:sp>
      <p:sp>
        <p:nvSpPr>
          <p:cNvPr id="3" name="Content Placeholder 2">
            <a:extLst>
              <a:ext uri="{FF2B5EF4-FFF2-40B4-BE49-F238E27FC236}">
                <a16:creationId xmlns:a16="http://schemas.microsoft.com/office/drawing/2014/main" id="{8A6E865B-F5F8-122D-D23C-940FD8E645DE}"/>
              </a:ext>
            </a:extLst>
          </p:cNvPr>
          <p:cNvSpPr>
            <a:spLocks noGrp="1"/>
          </p:cNvSpPr>
          <p:nvPr>
            <p:ph idx="1"/>
          </p:nvPr>
        </p:nvSpPr>
        <p:spPr/>
        <p:txBody>
          <a:bodyPr/>
          <a:lstStyle/>
          <a:p>
            <a:r>
              <a:rPr lang="en-US" dirty="0"/>
              <a:t>Secure data configurations rigorously small misconfigurations (like in the 2020 leak) can expose massive datasets.</a:t>
            </a:r>
          </a:p>
          <a:p>
            <a:r>
              <a:rPr lang="en-US" dirty="0"/>
              <a:t>Protect internal systems and code, not just user data source code and credentials can be just as valuable to attackers.</a:t>
            </a:r>
          </a:p>
          <a:p>
            <a:r>
              <a:rPr lang="en-US" dirty="0"/>
              <a:t>Act swiftly and transparently in response to threats. Razer’s immediate countermeasures (password resets, investigations) helped manage the fallout.</a:t>
            </a:r>
          </a:p>
          <a:p>
            <a:r>
              <a:rPr lang="en-US" dirty="0"/>
              <a:t>Vendor risk matters Razer’s legal success shows that responsibility extends across service providers and that their security posture matters too.</a:t>
            </a:r>
          </a:p>
        </p:txBody>
      </p:sp>
    </p:spTree>
    <p:extLst>
      <p:ext uri="{BB962C8B-B14F-4D97-AF65-F5344CB8AC3E}">
        <p14:creationId xmlns:p14="http://schemas.microsoft.com/office/powerpoint/2010/main" val="39466924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ECD65-6E67-1B4B-325E-EFA115078B77}"/>
              </a:ext>
            </a:extLst>
          </p:cNvPr>
          <p:cNvSpPr>
            <a:spLocks noGrp="1"/>
          </p:cNvSpPr>
          <p:nvPr>
            <p:ph type="title"/>
          </p:nvPr>
        </p:nvSpPr>
        <p:spPr/>
        <p:txBody>
          <a:bodyPr/>
          <a:lstStyle/>
          <a:p>
            <a:r>
              <a:rPr lang="en-US" dirty="0"/>
              <a:t>Reference </a:t>
            </a:r>
          </a:p>
        </p:txBody>
      </p:sp>
      <p:sp>
        <p:nvSpPr>
          <p:cNvPr id="3" name="Content Placeholder 2">
            <a:extLst>
              <a:ext uri="{FF2B5EF4-FFF2-40B4-BE49-F238E27FC236}">
                <a16:creationId xmlns:a16="http://schemas.microsoft.com/office/drawing/2014/main" id="{8EFF73DE-4494-69F1-C679-A9CA0501D67C}"/>
              </a:ext>
            </a:extLst>
          </p:cNvPr>
          <p:cNvSpPr>
            <a:spLocks noGrp="1"/>
          </p:cNvSpPr>
          <p:nvPr>
            <p:ph idx="1"/>
          </p:nvPr>
        </p:nvSpPr>
        <p:spPr/>
        <p:txBody>
          <a:bodyPr/>
          <a:lstStyle/>
          <a:p>
            <a:r>
              <a:rPr lang="en-US" dirty="0"/>
              <a:t>CNA. (2020). </a:t>
            </a:r>
            <a:r>
              <a:rPr lang="en-US" i="1" dirty="0"/>
              <a:t>IT vendor appeals against US$6.5 million in damages awarded to gaming firm Razer over data leak</a:t>
            </a:r>
            <a:r>
              <a:rPr lang="en-US" dirty="0"/>
              <a:t>. [online] Available at: https://www.channelnewsasia.com/singapore/razer-data-leak-it-vendor-capgemini-appeal-damages-3618121?utm_source [Accessed 2 Sep. 2025].</a:t>
            </a:r>
          </a:p>
          <a:p>
            <a:r>
              <a:rPr lang="en-US" dirty="0"/>
              <a:t>‌</a:t>
            </a:r>
            <a:r>
              <a:rPr lang="en-US" dirty="0" err="1"/>
              <a:t>Toulas</a:t>
            </a:r>
            <a:r>
              <a:rPr lang="en-US" dirty="0"/>
              <a:t>, B. (2023). </a:t>
            </a:r>
            <a:r>
              <a:rPr lang="en-US" i="1" dirty="0"/>
              <a:t>Razer investigates data breach claims, resets user sessions</a:t>
            </a:r>
            <a:r>
              <a:rPr lang="en-US" dirty="0"/>
              <a:t>. [online] </a:t>
            </a:r>
            <a:r>
              <a:rPr lang="en-US" dirty="0" err="1"/>
              <a:t>BleepingComputer</a:t>
            </a:r>
            <a:r>
              <a:rPr lang="en-US" dirty="0"/>
              <a:t>. Available at: https://www.bleepingcomputer.com/news/security/razer-investigates-data-breach-claims-resets-user-sessions/?utm_source [Accessed 2 Sep. 2025].</a:t>
            </a:r>
          </a:p>
          <a:p>
            <a:endParaRPr lang="en-US" dirty="0"/>
          </a:p>
        </p:txBody>
      </p:sp>
    </p:spTree>
    <p:extLst>
      <p:ext uri="{BB962C8B-B14F-4D97-AF65-F5344CB8AC3E}">
        <p14:creationId xmlns:p14="http://schemas.microsoft.com/office/powerpoint/2010/main" val="24374445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F0328-7DA1-8258-C3BE-C51C91B5B5A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8846D72-C198-C12F-A46C-18024FBE22A3}"/>
              </a:ext>
            </a:extLst>
          </p:cNvPr>
          <p:cNvSpPr>
            <a:spLocks noGrp="1"/>
          </p:cNvSpPr>
          <p:nvPr>
            <p:ph idx="1"/>
          </p:nvPr>
        </p:nvSpPr>
        <p:spPr/>
        <p:txBody>
          <a:bodyPr/>
          <a:lstStyle/>
          <a:p>
            <a:r>
              <a:rPr lang="en-US" dirty="0"/>
              <a:t>Carroll, M.W. (2015). Sharing Research Data and Intellectual Property Law: A Primer. </a:t>
            </a:r>
            <a:r>
              <a:rPr lang="en-US" i="1" dirty="0"/>
              <a:t>PLOS Biology</a:t>
            </a:r>
            <a:r>
              <a:rPr lang="en-US" dirty="0"/>
              <a:t>, [online] 13(8), p.e1002235. </a:t>
            </a:r>
            <a:r>
              <a:rPr lang="en-US" dirty="0" err="1"/>
              <a:t>doi:https</a:t>
            </a:r>
            <a:r>
              <a:rPr lang="en-US" dirty="0"/>
              <a:t>://doi.org/10.1371/journal.pbio.1002235.</a:t>
            </a:r>
          </a:p>
          <a:p>
            <a:r>
              <a:rPr lang="en-US" dirty="0"/>
              <a:t>‌Nations, U. (2022). Marine litter, an analytical overview. </a:t>
            </a:r>
            <a:r>
              <a:rPr lang="en-US" i="1" dirty="0"/>
              <a:t>Unep.org</a:t>
            </a:r>
            <a:r>
              <a:rPr lang="en-US" dirty="0"/>
              <a:t>, [online] 2(1). </a:t>
            </a:r>
            <a:r>
              <a:rPr lang="en-US" dirty="0" err="1"/>
              <a:t>doi:https</a:t>
            </a:r>
            <a:r>
              <a:rPr lang="en-US" dirty="0"/>
              <a:t>://doi.org/N/A.</a:t>
            </a:r>
          </a:p>
          <a:p>
            <a:r>
              <a:rPr lang="en-US" dirty="0"/>
              <a:t>‌Wikipedia Contributors (2025). </a:t>
            </a:r>
            <a:r>
              <a:rPr lang="en-US" i="1" dirty="0"/>
              <a:t>Algorithmic accountability</a:t>
            </a:r>
            <a:r>
              <a:rPr lang="en-US" dirty="0"/>
              <a:t>. </a:t>
            </a:r>
            <a:r>
              <a:rPr lang="en-US"/>
              <a:t>Wikipedia.</a:t>
            </a:r>
            <a:endParaRPr lang="en-US" dirty="0"/>
          </a:p>
        </p:txBody>
      </p:sp>
    </p:spTree>
    <p:extLst>
      <p:ext uri="{BB962C8B-B14F-4D97-AF65-F5344CB8AC3E}">
        <p14:creationId xmlns:p14="http://schemas.microsoft.com/office/powerpoint/2010/main" val="318035826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3030</TotalTime>
  <Words>4297</Words>
  <Application>Microsoft Office PowerPoint</Application>
  <PresentationFormat>Widescreen</PresentationFormat>
  <Paragraphs>312</Paragraphs>
  <Slides>48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48</vt:i4>
      </vt:variant>
    </vt:vector>
  </HeadingPairs>
  <TitlesOfParts>
    <vt:vector size="52" baseType="lpstr">
      <vt:lpstr>Aptos</vt:lpstr>
      <vt:lpstr>Century Gothic</vt:lpstr>
      <vt:lpstr>Wingdings 3</vt:lpstr>
      <vt:lpstr>Ion</vt:lpstr>
      <vt:lpstr>Business process support</vt:lpstr>
      <vt:lpstr>Products </vt:lpstr>
      <vt:lpstr>Data generation</vt:lpstr>
      <vt:lpstr>Why This Data is Relevant</vt:lpstr>
      <vt:lpstr>data science tools and technologies used in the project</vt:lpstr>
      <vt:lpstr>Helium 10 – data collection</vt:lpstr>
      <vt:lpstr>Microsoft Excel – data preparation and enhancement</vt:lpstr>
      <vt:lpstr>Power BI – data analysis and visualization</vt:lpstr>
      <vt:lpstr>Orange – data mining and predictive analysis</vt:lpstr>
      <vt:lpstr>Helium 10 – decision making</vt:lpstr>
      <vt:lpstr>Excel – decision making</vt:lpstr>
      <vt:lpstr>Power BI – decision making</vt:lpstr>
      <vt:lpstr>Orange – decision making</vt:lpstr>
      <vt:lpstr>Business Process Supported</vt:lpstr>
      <vt:lpstr>Value for the Marketing Department</vt:lpstr>
      <vt:lpstr>Value for the Company as a Whole</vt:lpstr>
      <vt:lpstr>Stakeholder Value Assessment</vt:lpstr>
      <vt:lpstr>Stakeholder Value Assessment</vt:lpstr>
      <vt:lpstr>Stakeholder Value Assessment</vt:lpstr>
      <vt:lpstr>Evaluation of Stakeholder Impact – over all evaluation</vt:lpstr>
      <vt:lpstr>Flow chart and explanation</vt:lpstr>
      <vt:lpstr>orange</vt:lpstr>
      <vt:lpstr>BlackWidow V4 - dashboard</vt:lpstr>
      <vt:lpstr>BlackWidow V4-dashboard analysis</vt:lpstr>
      <vt:lpstr>BlackWidow V4 – Recommendations</vt:lpstr>
      <vt:lpstr>Huntsman Mini - dashboard</vt:lpstr>
      <vt:lpstr>Huntsman Mini – dashboard analysis</vt:lpstr>
      <vt:lpstr>Huntsman Mini – Recommendations</vt:lpstr>
      <vt:lpstr>Ornata V3 – dashboard</vt:lpstr>
      <vt:lpstr>Ornata V3 – dashboard analysis</vt:lpstr>
      <vt:lpstr>Ornata V3 – Recommendations</vt:lpstr>
      <vt:lpstr>Summary for all 3</vt:lpstr>
      <vt:lpstr>Business Requirements – evaluation</vt:lpstr>
      <vt:lpstr>User Requirements – evaluation </vt:lpstr>
      <vt:lpstr>Identified Gaps &amp; Limitations</vt:lpstr>
      <vt:lpstr>Suggested Improvements</vt:lpstr>
      <vt:lpstr>Social, Legal, and Ethical Implications</vt:lpstr>
      <vt:lpstr>Social, Legal, and Ethical Implications</vt:lpstr>
      <vt:lpstr>Social, Legal, and Ethical Implications</vt:lpstr>
      <vt:lpstr>Data Security Threats and Measures</vt:lpstr>
      <vt:lpstr>Data Security Threats and Measures</vt:lpstr>
      <vt:lpstr>Data Security Threats and Measures</vt:lpstr>
      <vt:lpstr>Razer Data Breach Case Study</vt:lpstr>
      <vt:lpstr>Business Impact</vt:lpstr>
      <vt:lpstr>Recovery Actions</vt:lpstr>
      <vt:lpstr>Lessons learnt </vt:lpstr>
      <vt:lpstr>Reference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Obada alhalaibh</dc:creator>
  <cp:lastModifiedBy>Obada alhalaibh</cp:lastModifiedBy>
  <cp:revision>34</cp:revision>
  <dcterms:created xsi:type="dcterms:W3CDTF">2025-08-18T16:20:46Z</dcterms:created>
  <dcterms:modified xsi:type="dcterms:W3CDTF">2025-09-03T15:45:04Z</dcterms:modified>
</cp:coreProperties>
</file>