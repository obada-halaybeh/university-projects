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65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4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79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9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8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0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6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5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2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6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1352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64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9281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71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25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7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A75C3-58D8-44C0-8BD4-3216A6541A7B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619B32B-4CF6-4DA4-9718-601E9A4C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CD2AE8-9510-198C-0033-8760F38397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Obada Al-</a:t>
            </a:r>
            <a:r>
              <a:rPr lang="en-US" dirty="0" err="1"/>
              <a:t>Halaybeh</a:t>
            </a:r>
            <a:endParaRPr lang="en-US" dirty="0"/>
          </a:p>
          <a:p>
            <a:pPr algn="l"/>
            <a:r>
              <a:rPr lang="en-US" dirty="0"/>
              <a:t>23110107</a:t>
            </a:r>
          </a:p>
          <a:p>
            <a:pPr algn="l"/>
            <a:r>
              <a:rPr lang="en-US" dirty="0"/>
              <a:t>Discrete </a:t>
            </a:r>
            <a:r>
              <a:rPr lang="en-US" dirty="0" err="1"/>
              <a:t>Maths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7D3369-5D99-DCE1-5AD1-2130BB5526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07067" y="2401599"/>
            <a:ext cx="526297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of Group Theory in Computer Science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87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806D-9250-7B57-17A5-470FAE47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Group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8F74-3668-A6DF-5394-9E082AD97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theory is a branch of abstract algebra that studies mathematical groups.</a:t>
            </a:r>
          </a:p>
          <a:p>
            <a:r>
              <a:rPr lang="en-US" dirty="0"/>
              <a:t>A group is a set with an operation that satisfies four rules: closure, associativity, identity, and inverse.</a:t>
            </a:r>
          </a:p>
        </p:txBody>
      </p:sp>
    </p:spTree>
    <p:extLst>
      <p:ext uri="{BB962C8B-B14F-4D97-AF65-F5344CB8AC3E}">
        <p14:creationId xmlns:p14="http://schemas.microsoft.com/office/powerpoint/2010/main" val="234109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5EB4-87C6-06D3-E0E2-764BC6AB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8C90-5AA0-9464-F415-4FDA48AE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group is a pair (G, *) such that:</a:t>
            </a:r>
          </a:p>
          <a:p>
            <a:pPr lvl="1"/>
            <a:r>
              <a:rPr lang="en-US" b="1" dirty="0"/>
              <a:t>Closure</a:t>
            </a:r>
            <a:r>
              <a:rPr lang="en-US" dirty="0"/>
              <a:t>: For all a, b in G, a * b is in G.</a:t>
            </a:r>
          </a:p>
          <a:p>
            <a:pPr lvl="1"/>
            <a:r>
              <a:rPr lang="en-US" b="1" dirty="0"/>
              <a:t>Associativity</a:t>
            </a:r>
            <a:r>
              <a:rPr lang="en-US" dirty="0"/>
              <a:t>: (a * b) * c = a * (b * c)</a:t>
            </a:r>
          </a:p>
          <a:p>
            <a:pPr lvl="1"/>
            <a:r>
              <a:rPr lang="en-US" b="1" dirty="0"/>
              <a:t>Identity</a:t>
            </a:r>
            <a:r>
              <a:rPr lang="en-US" dirty="0"/>
              <a:t>: There exists an e in G such that a * e = a.</a:t>
            </a:r>
          </a:p>
          <a:p>
            <a:pPr lvl="1"/>
            <a:r>
              <a:rPr lang="en-US" b="1" dirty="0"/>
              <a:t>Inverse</a:t>
            </a:r>
            <a:r>
              <a:rPr lang="en-US" dirty="0"/>
              <a:t>: For each a in G, there is an a⁻¹ in G such that a * a⁻¹ = 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1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FA6A-8652-D5B6-7C78-82158265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Group Theory Important in 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1D234-56F7-BE6B-A430-8ADAF9EBD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supports many foundational systems:</a:t>
            </a:r>
          </a:p>
          <a:p>
            <a:pPr lvl="1"/>
            <a:r>
              <a:rPr lang="en-US" dirty="0"/>
              <a:t>Data encryption</a:t>
            </a:r>
          </a:p>
          <a:p>
            <a:pPr lvl="1"/>
            <a:r>
              <a:rPr lang="en-US" dirty="0"/>
              <a:t>Symmetry and transformations in graphics</a:t>
            </a:r>
          </a:p>
          <a:p>
            <a:pPr lvl="1"/>
            <a:r>
              <a:rPr lang="en-US" dirty="0"/>
              <a:t>Automata theory</a:t>
            </a:r>
          </a:p>
          <a:p>
            <a:pPr lvl="1"/>
            <a:r>
              <a:rPr lang="en-US" dirty="0"/>
              <a:t>Error detection in networking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55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CA71-443F-FD96-F306-B185B516A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1 – Cryptography (e.g., RSA)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D4B4-6180-69A8-FA8B-33F0F4A2F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Description:</a:t>
            </a:r>
            <a:br>
              <a:rPr lang="en-US" dirty="0"/>
            </a:br>
            <a:r>
              <a:rPr lang="en-US" dirty="0"/>
              <a:t>Group theory is essential in building secure communication systems like RSA and ECC.</a:t>
            </a:r>
          </a:p>
          <a:p>
            <a:r>
              <a:rPr lang="en-US" b="1" dirty="0"/>
              <a:t> Key Idea:</a:t>
            </a:r>
            <a:br>
              <a:rPr lang="en-US" dirty="0"/>
            </a:br>
            <a:r>
              <a:rPr lang="en-US" dirty="0"/>
              <a:t>Cryptographic systems use mathematical groups (like modular arithmetic groups or elliptic curve groups) to perform operations that are easy to compute but hard to reverse.</a:t>
            </a:r>
          </a:p>
          <a:p>
            <a:r>
              <a:rPr lang="en-US" b="1" dirty="0"/>
              <a:t>Group Properties Used:</a:t>
            </a:r>
            <a:endParaRPr lang="en-US" dirty="0"/>
          </a:p>
          <a:p>
            <a:pPr lvl="1"/>
            <a:r>
              <a:rPr lang="en-US" dirty="0"/>
              <a:t>Modular operations (like exponentiation)</a:t>
            </a:r>
          </a:p>
          <a:p>
            <a:pPr lvl="1"/>
            <a:r>
              <a:rPr lang="en-US" dirty="0"/>
              <a:t>Inverse elements (used in decryption)</a:t>
            </a:r>
          </a:p>
          <a:p>
            <a:pPr lvl="1"/>
            <a:r>
              <a:rPr lang="en-US" dirty="0"/>
              <a:t>Group structure guarantees consistency and security</a:t>
            </a:r>
          </a:p>
        </p:txBody>
      </p:sp>
    </p:spTree>
    <p:extLst>
      <p:ext uri="{BB962C8B-B14F-4D97-AF65-F5344CB8AC3E}">
        <p14:creationId xmlns:p14="http://schemas.microsoft.com/office/powerpoint/2010/main" val="320447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E4AF-090C-4DB6-4368-23E4DAD1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 (cont'd) – RSA and ECC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047B-4066-D935-C4B8-26676C24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RSA Example:</a:t>
            </a:r>
            <a:endParaRPr lang="en-US" dirty="0"/>
          </a:p>
          <a:p>
            <a:pPr lvl="1"/>
            <a:r>
              <a:rPr lang="en-US" dirty="0"/>
              <a:t>Uses integers modulo </a:t>
            </a:r>
            <a:r>
              <a:rPr lang="en-US" i="1" dirty="0"/>
              <a:t>n</a:t>
            </a:r>
            <a:r>
              <a:rPr lang="en-US" dirty="0"/>
              <a:t>, where </a:t>
            </a:r>
            <a:r>
              <a:rPr lang="en-US" i="1" dirty="0"/>
              <a:t>n = p × q</a:t>
            </a:r>
            <a:r>
              <a:rPr lang="en-US" dirty="0"/>
              <a:t> (two large primes)</a:t>
            </a:r>
          </a:p>
          <a:p>
            <a:pPr lvl="1"/>
            <a:r>
              <a:rPr lang="en-US" dirty="0"/>
              <a:t>Encryption: c=</a:t>
            </a:r>
            <a:r>
              <a:rPr lang="en-US" dirty="0" err="1"/>
              <a:t>memod</a:t>
            </a:r>
            <a:r>
              <a:rPr lang="en-US" dirty="0"/>
              <a:t>  </a:t>
            </a:r>
            <a:r>
              <a:rPr lang="en-US" dirty="0" err="1"/>
              <a:t>nc</a:t>
            </a:r>
            <a:r>
              <a:rPr lang="en-US" dirty="0"/>
              <a:t> = </a:t>
            </a:r>
            <a:r>
              <a:rPr lang="en-US" dirty="0" err="1"/>
              <a:t>m^e</a:t>
            </a:r>
            <a:r>
              <a:rPr lang="en-US" dirty="0"/>
              <a:t> \mod </a:t>
            </a:r>
            <a:r>
              <a:rPr lang="en-US" dirty="0" err="1"/>
              <a:t>nc</a:t>
            </a:r>
            <a:r>
              <a:rPr lang="en-US" dirty="0"/>
              <a:t>=</a:t>
            </a:r>
            <a:r>
              <a:rPr lang="en-US" dirty="0" err="1"/>
              <a:t>memodn</a:t>
            </a:r>
            <a:endParaRPr lang="en-US" dirty="0"/>
          </a:p>
          <a:p>
            <a:pPr lvl="1"/>
            <a:r>
              <a:rPr lang="en-US" dirty="0"/>
              <a:t>Decryption: m=</a:t>
            </a:r>
            <a:r>
              <a:rPr lang="en-US" dirty="0" err="1"/>
              <a:t>cdmod</a:t>
            </a:r>
            <a:r>
              <a:rPr lang="en-US" dirty="0"/>
              <a:t>  nm = </a:t>
            </a:r>
            <a:r>
              <a:rPr lang="en-US" dirty="0" err="1"/>
              <a:t>c^d</a:t>
            </a:r>
            <a:r>
              <a:rPr lang="en-US" dirty="0"/>
              <a:t> \mod nm=</a:t>
            </a:r>
            <a:r>
              <a:rPr lang="en-US" dirty="0" err="1"/>
              <a:t>cdmodn</a:t>
            </a:r>
            <a:endParaRPr lang="en-US" dirty="0"/>
          </a:p>
          <a:p>
            <a:r>
              <a:rPr lang="en-US" b="1" dirty="0"/>
              <a:t> ECC Example:</a:t>
            </a:r>
            <a:endParaRPr lang="en-US" dirty="0"/>
          </a:p>
          <a:p>
            <a:pPr lvl="1"/>
            <a:r>
              <a:rPr lang="en-US" dirty="0"/>
              <a:t>Uses points on elliptic curves: y2=x3+ax+by^2 = x^3 + ax + by2=x3+ax+b</a:t>
            </a:r>
          </a:p>
          <a:p>
            <a:pPr lvl="1"/>
            <a:r>
              <a:rPr lang="en-US" dirty="0"/>
              <a:t>Points form a group under addition</a:t>
            </a:r>
          </a:p>
          <a:p>
            <a:pPr lvl="1"/>
            <a:r>
              <a:rPr lang="en-US" dirty="0"/>
              <a:t>Smaller key sizes, faster, ideal for mobile security</a:t>
            </a:r>
          </a:p>
          <a:p>
            <a:r>
              <a:rPr lang="en-US" b="1" dirty="0"/>
              <a:t> Real-World Use:</a:t>
            </a:r>
            <a:endParaRPr lang="en-US" dirty="0"/>
          </a:p>
          <a:p>
            <a:pPr lvl="1"/>
            <a:r>
              <a:rPr lang="en-US" dirty="0"/>
              <a:t>HTTPS, online banking, blockchain wallets, digital signatures, secure messaging (WhatsApp, Signal)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35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EF6E-CB89-EBA2-6BF4-695BF889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2 – Computer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CBF7D-300D-C1D0-5D5B-8D700A039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Description:</a:t>
            </a:r>
            <a:br>
              <a:rPr lang="en-US" dirty="0"/>
            </a:br>
            <a:r>
              <a:rPr lang="en-US" dirty="0"/>
              <a:t>Group theory powers transformations in 2D and 3D graphics – rotation, reflection, scaling.</a:t>
            </a:r>
          </a:p>
          <a:p>
            <a:r>
              <a:rPr lang="en-US" b="1" dirty="0"/>
              <a:t> Group Used:</a:t>
            </a:r>
            <a:endParaRPr lang="en-US" dirty="0"/>
          </a:p>
          <a:p>
            <a:pPr lvl="1"/>
            <a:r>
              <a:rPr lang="en-US" dirty="0"/>
              <a:t>Transformation groups like SO(2), SO(3)</a:t>
            </a:r>
          </a:p>
          <a:p>
            <a:pPr lvl="1"/>
            <a:r>
              <a:rPr lang="en-US" dirty="0"/>
              <a:t>Each transformation is reversible and composable</a:t>
            </a:r>
          </a:p>
          <a:p>
            <a:r>
              <a:rPr lang="en-US" b="1" dirty="0"/>
              <a:t> Key Operations:</a:t>
            </a:r>
            <a:endParaRPr lang="en-US" dirty="0"/>
          </a:p>
          <a:p>
            <a:pPr lvl="1"/>
            <a:r>
              <a:rPr lang="en-US" dirty="0"/>
              <a:t>Rotate, reflect, translate</a:t>
            </a:r>
          </a:p>
          <a:p>
            <a:pPr lvl="1"/>
            <a:r>
              <a:rPr lang="en-US" dirty="0"/>
              <a:t>Matrices used to apply these transformations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44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2081-4CC3-1552-3264-556E1FF6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(cont’d) – Real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0BD61-B123-F447-002E-B167BDC9F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Where It’s Used:</a:t>
            </a:r>
            <a:endParaRPr lang="en-US" dirty="0"/>
          </a:p>
          <a:p>
            <a:pPr lvl="1"/>
            <a:r>
              <a:rPr lang="en-US" dirty="0"/>
              <a:t>Game engines (Unity, Unreal Engine)</a:t>
            </a:r>
          </a:p>
          <a:p>
            <a:pPr lvl="1"/>
            <a:r>
              <a:rPr lang="en-US" dirty="0"/>
              <a:t>Animation systems (Maya, Blender)</a:t>
            </a:r>
          </a:p>
          <a:p>
            <a:pPr lvl="1"/>
            <a:r>
              <a:rPr lang="en-US" dirty="0"/>
              <a:t>3D modeling (AutoCAD, SolidWorks)</a:t>
            </a:r>
          </a:p>
          <a:p>
            <a:r>
              <a:rPr lang="en-US" b="1" dirty="0"/>
              <a:t> Benefit of Groups:</a:t>
            </a:r>
            <a:endParaRPr lang="en-US" dirty="0"/>
          </a:p>
          <a:p>
            <a:pPr lvl="1"/>
            <a:r>
              <a:rPr lang="en-US" dirty="0"/>
              <a:t>Clean object hierarchy (e.g., moving a character and their limbs together)</a:t>
            </a:r>
          </a:p>
          <a:p>
            <a:pPr lvl="1"/>
            <a:r>
              <a:rPr lang="en-US" dirty="0"/>
              <a:t>Chain transformations efficiently</a:t>
            </a:r>
          </a:p>
          <a:p>
            <a:pPr lvl="1"/>
            <a:r>
              <a:rPr lang="en-US" dirty="0"/>
              <a:t>Keep motion realistic and physics-consistent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9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750AD-63F1-C700-1D54-0ECED0DD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53BF0-36DB-3D0B-2644-E62D22843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Group Theory Supports Computer Science</a:t>
            </a:r>
          </a:p>
          <a:p>
            <a:pPr lvl="1"/>
            <a:r>
              <a:rPr lang="en-US" dirty="0"/>
              <a:t>Group theory ensures secure communication through RSA and ECC.</a:t>
            </a:r>
          </a:p>
          <a:p>
            <a:pPr lvl="1"/>
            <a:r>
              <a:rPr lang="en-US" dirty="0"/>
              <a:t>It simplifies and structures complex 3D transformations in graphics.</a:t>
            </a:r>
          </a:p>
          <a:p>
            <a:pPr lvl="1"/>
            <a:r>
              <a:rPr lang="en-US" dirty="0"/>
              <a:t>Also supports error detection, automata design, and data structures.</a:t>
            </a:r>
          </a:p>
          <a:p>
            <a:pPr lvl="1"/>
            <a:r>
              <a:rPr lang="en-US" dirty="0"/>
              <a:t>Groups provide consistency, reversibility, and predictability — key features in system design.</a:t>
            </a:r>
          </a:p>
        </p:txBody>
      </p:sp>
    </p:spTree>
    <p:extLst>
      <p:ext uri="{BB962C8B-B14F-4D97-AF65-F5344CB8AC3E}">
        <p14:creationId xmlns:p14="http://schemas.microsoft.com/office/powerpoint/2010/main" val="398489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B44B-DE13-A33D-311C-FC3017AA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Uses of Group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AD2D4-6056-26B8-BDAF-E59E5C57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Error correction</a:t>
            </a:r>
            <a:r>
              <a:rPr lang="en-US" dirty="0"/>
              <a:t> (Hamming codes use group logic)</a:t>
            </a:r>
          </a:p>
          <a:p>
            <a:pPr lvl="1"/>
            <a:r>
              <a:rPr lang="en-US" b="1" dirty="0"/>
              <a:t>Finite automata</a:t>
            </a:r>
            <a:r>
              <a:rPr lang="en-US" dirty="0"/>
              <a:t> (state transitions can form groups)</a:t>
            </a:r>
          </a:p>
          <a:p>
            <a:pPr lvl="1"/>
            <a:r>
              <a:rPr lang="en-US" b="1" dirty="0"/>
              <a:t>Hashing algorithms</a:t>
            </a:r>
            <a:r>
              <a:rPr lang="en-US" dirty="0"/>
              <a:t> (some are based on algebraic groups)</a:t>
            </a:r>
          </a:p>
          <a:p>
            <a:pPr lvl="1"/>
            <a:r>
              <a:rPr lang="en-US" b="1" dirty="0"/>
              <a:t>Quantum computing</a:t>
            </a:r>
            <a:r>
              <a:rPr lang="en-US" dirty="0"/>
              <a:t> (uses group symmetries in qubit transformations)</a:t>
            </a:r>
          </a:p>
        </p:txBody>
      </p:sp>
    </p:spTree>
    <p:extLst>
      <p:ext uri="{BB962C8B-B14F-4D97-AF65-F5344CB8AC3E}">
        <p14:creationId xmlns:p14="http://schemas.microsoft.com/office/powerpoint/2010/main" val="244991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5528-C0B3-EE9C-31AE-996A6D46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Thoughts</a:t>
            </a:r>
            <a:br>
              <a:rPr lang="en-US" dirty="0"/>
            </a:br>
            <a:r>
              <a:rPr lang="en-US" sz="1800" dirty="0"/>
              <a:t>Why Should Developers Care About Groups?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1D5D-2535-4F12-33CF-CE3C09DA6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if group theory feels abstract, it appears in tools and systems we use daily — from graphics rendering to encryption. Learning group theory makes us better at understanding how these systems are structured and how to design them correctly and efficiently.</a:t>
            </a:r>
          </a:p>
        </p:txBody>
      </p:sp>
    </p:spTree>
    <p:extLst>
      <p:ext uri="{BB962C8B-B14F-4D97-AF65-F5344CB8AC3E}">
        <p14:creationId xmlns:p14="http://schemas.microsoft.com/office/powerpoint/2010/main" val="2816172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A9C6-E7C2-5EC6-2194-A4727E39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0BFA-A785-46D3-D215-64242FFB8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GeeksforGeeks</a:t>
            </a:r>
            <a:r>
              <a:rPr lang="en-US" dirty="0"/>
              <a:t>. (2017). </a:t>
            </a:r>
            <a:r>
              <a:rPr lang="en-US" i="1" dirty="0"/>
              <a:t>Mathematics | Algebraic Structure</a:t>
            </a:r>
            <a:r>
              <a:rPr lang="en-US" dirty="0"/>
              <a:t>. [online] Available at: https://www.geeksforgeeks.org/groups-discrete-mathematics/.</a:t>
            </a:r>
          </a:p>
          <a:p>
            <a:r>
              <a:rPr lang="en-US" dirty="0"/>
              <a:t>Stallings, W. (2017). </a:t>
            </a:r>
            <a:r>
              <a:rPr lang="en-US" i="1" dirty="0"/>
              <a:t>Cryptography and Network Security</a:t>
            </a:r>
            <a:r>
              <a:rPr lang="en-US" dirty="0"/>
              <a:t>, 7th ed. Pearson.</a:t>
            </a:r>
          </a:p>
          <a:p>
            <a:r>
              <a:rPr lang="en-US" dirty="0" err="1"/>
              <a:t>Sipser</a:t>
            </a:r>
            <a:r>
              <a:rPr lang="en-US" dirty="0"/>
              <a:t>, M. (2012). </a:t>
            </a:r>
            <a:r>
              <a:rPr lang="en-US" i="1" dirty="0"/>
              <a:t>Introduction to the Theory of Computation</a:t>
            </a:r>
            <a:r>
              <a:rPr lang="en-US" dirty="0"/>
              <a:t>. Cengage Learning.</a:t>
            </a:r>
          </a:p>
          <a:p>
            <a:r>
              <a:rPr lang="en-US" dirty="0"/>
              <a:t>Uncg.edu. (2025). </a:t>
            </a:r>
            <a:r>
              <a:rPr lang="en-US" i="1" dirty="0"/>
              <a:t>Groups and Cryptography</a:t>
            </a:r>
            <a:r>
              <a:rPr lang="en-US" dirty="0"/>
              <a:t>. [online] Available at: https://math-sites.uncg.edu/sites/pauli/112/HTML/partgroups.html [Accessed 13 Jun. 2025].</a:t>
            </a:r>
          </a:p>
          <a:p>
            <a:r>
              <a:rPr lang="en-US" dirty="0"/>
              <a:t>‌Wikipedia. (2023). </a:t>
            </a:r>
            <a:r>
              <a:rPr lang="en-US" i="1" dirty="0"/>
              <a:t>Group-based cryptography</a:t>
            </a:r>
            <a:r>
              <a:rPr lang="en-US" dirty="0"/>
              <a:t>. [online] Available at: https://en.wikipedia.org/wiki/Group-based_</a:t>
            </a:r>
            <a:r>
              <a:rPr lang="en-US"/>
              <a:t>cryptography.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856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789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Application of Group Theory in Computer Science </vt:lpstr>
      <vt:lpstr>What is Group Theory?</vt:lpstr>
      <vt:lpstr>Group Definition</vt:lpstr>
      <vt:lpstr>Why is Group Theory Important in CS?</vt:lpstr>
      <vt:lpstr>Application 1 – Cryptography (e.g., RSA)</vt:lpstr>
      <vt:lpstr>Cryptography (cont'd) – RSA and ECC</vt:lpstr>
      <vt:lpstr>Application 2 – Computer Graphics</vt:lpstr>
      <vt:lpstr>Graphics (cont’d) – Real Examples</vt:lpstr>
      <vt:lpstr>Summary of Applications</vt:lpstr>
      <vt:lpstr>More Uses of Group Theory</vt:lpstr>
      <vt:lpstr>Final Thoughts Why Should Developers Care About Groups?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Obada alhalaibh</dc:creator>
  <cp:lastModifiedBy>Obada alhalaibh</cp:lastModifiedBy>
  <cp:revision>3</cp:revision>
  <dcterms:created xsi:type="dcterms:W3CDTF">2025-06-13T20:57:20Z</dcterms:created>
  <dcterms:modified xsi:type="dcterms:W3CDTF">2025-06-13T21:37:32Z</dcterms:modified>
</cp:coreProperties>
</file>